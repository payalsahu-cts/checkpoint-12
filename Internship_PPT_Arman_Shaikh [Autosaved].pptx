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4610"/>
  </p:normalViewPr>
  <p:slideViewPr>
    <p:cSldViewPr snapToGrid="0" snapToObjects="1">
      <p:cViewPr varScale="1">
        <p:scale>
          <a:sx n="108" d="100"/>
          <a:sy n="108" d="100"/>
        </p:scale>
        <p:origin x="52" y="1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7226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73152"/>
            <a:ext cx="9144000" cy="0"/>
          </a:xfrm>
          <a:prstGeom prst="line">
            <a:avLst/>
          </a:prstGeom>
          <a:noFill/>
          <a:ln w="25400">
            <a:solidFill>
              <a:srgbClr val="000000"/>
            </a:solidFill>
            <a:prstDash val="solid"/>
          </a:ln>
        </p:spPr>
        <p:txBody>
          <a:bodyPr/>
          <a:lstStyle/>
          <a:p>
            <a:endParaRPr lang="en-IN"/>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YESHWANTRAO CHAVAN COLLEGE OF ENGINEERING</a:t>
            </a:r>
            <a:endParaRPr lang="en-US" sz="2200" dirty="0"/>
          </a:p>
        </p:txBody>
      </p:sp>
      <p:sp>
        <p:nvSpPr>
          <p:cNvPr id="4" name="Text 2"/>
          <p:cNvSpPr/>
          <p:nvPr/>
        </p:nvSpPr>
        <p:spPr>
          <a:xfrm>
            <a:off x="457200" y="749808"/>
            <a:ext cx="8229600" cy="347472"/>
          </a:xfrm>
          <a:prstGeom prst="rect">
            <a:avLst/>
          </a:prstGeom>
          <a:noFill/>
          <a:ln/>
        </p:spPr>
        <p:txBody>
          <a:bodyPr wrap="square" lIns="0" tIns="0" rIns="0" bIns="0" rtlCol="0" anchor="ctr"/>
          <a:lstStyle/>
          <a:p>
            <a:pPr marL="0" indent="0" algn="ctr">
              <a:buNone/>
            </a:pPr>
            <a:r>
              <a:rPr lang="en-US" sz="1500" b="1" dirty="0">
                <a:solidFill>
                  <a:srgbClr val="000000"/>
                </a:solidFill>
                <a:latin typeface="Calibri" pitchFamily="34" charset="0"/>
                <a:ea typeface="Calibri" pitchFamily="34" charset="-122"/>
                <a:cs typeface="Calibri" pitchFamily="34" charset="-120"/>
              </a:rPr>
              <a:t>Department of Computer Technology (CSE-IoT)</a:t>
            </a:r>
            <a:endParaRPr lang="en-US" sz="1500" dirty="0"/>
          </a:p>
        </p:txBody>
      </p:sp>
      <p:sp>
        <p:nvSpPr>
          <p:cNvPr id="5" name="Shape 3"/>
          <p:cNvSpPr/>
          <p:nvPr/>
        </p:nvSpPr>
        <p:spPr>
          <a:xfrm>
            <a:off x="0" y="1143000"/>
            <a:ext cx="9144000" cy="0"/>
          </a:xfrm>
          <a:prstGeom prst="line">
            <a:avLst/>
          </a:prstGeom>
          <a:noFill/>
          <a:ln w="19050">
            <a:solidFill>
              <a:srgbClr val="000000"/>
            </a:solidFill>
            <a:prstDash val="solid"/>
          </a:ln>
        </p:spPr>
        <p:txBody>
          <a:bodyPr/>
          <a:lstStyle/>
          <a:p>
            <a:endParaRPr lang="en-IN"/>
          </a:p>
        </p:txBody>
      </p:sp>
      <p:sp>
        <p:nvSpPr>
          <p:cNvPr id="6" name="Text 4"/>
          <p:cNvSpPr/>
          <p:nvPr/>
        </p:nvSpPr>
        <p:spPr>
          <a:xfrm>
            <a:off x="457200" y="1298448"/>
            <a:ext cx="8229600" cy="347472"/>
          </a:xfrm>
          <a:prstGeom prst="rect">
            <a:avLst/>
          </a:prstGeom>
          <a:noFill/>
          <a:ln/>
        </p:spPr>
        <p:txBody>
          <a:bodyPr wrap="square" lIns="0" tIns="0" rIns="0" bIns="0" rtlCol="0" anchor="ctr"/>
          <a:lstStyle/>
          <a:p>
            <a:pPr marL="0" indent="0" algn="ctr">
              <a:buNone/>
            </a:pPr>
            <a:r>
              <a:rPr lang="en-US" sz="1400" i="1" dirty="0">
                <a:solidFill>
                  <a:srgbClr val="555555"/>
                </a:solidFill>
                <a:latin typeface="Calibri" pitchFamily="34" charset="0"/>
                <a:ea typeface="Calibri" pitchFamily="34" charset="-122"/>
                <a:cs typeface="Calibri" pitchFamily="34" charset="-120"/>
              </a:rPr>
              <a:t>Internship Seminar on</a:t>
            </a:r>
            <a:endParaRPr lang="en-US" sz="1400" dirty="0"/>
          </a:p>
        </p:txBody>
      </p:sp>
      <p:sp>
        <p:nvSpPr>
          <p:cNvPr id="7" name="Text 5"/>
          <p:cNvSpPr/>
          <p:nvPr/>
        </p:nvSpPr>
        <p:spPr>
          <a:xfrm>
            <a:off x="457200" y="1691640"/>
            <a:ext cx="8229600" cy="914400"/>
          </a:xfrm>
          <a:prstGeom prst="rect">
            <a:avLst/>
          </a:prstGeom>
          <a:noFill/>
          <a:ln/>
        </p:spPr>
        <p:txBody>
          <a:bodyPr wrap="square" lIns="0" tIns="0" rIns="0" bIns="0"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Automation of Coursera Web Application</a:t>
            </a:r>
            <a:endParaRPr lang="en-US" sz="2200" dirty="0"/>
          </a:p>
          <a:p>
            <a:pPr marL="0" indent="0" algn="ctr">
              <a:buNone/>
            </a:pPr>
            <a:r>
              <a:rPr lang="en-US" sz="2200" b="1" dirty="0">
                <a:solidFill>
                  <a:srgbClr val="000000"/>
                </a:solidFill>
                <a:latin typeface="Calibri" pitchFamily="34" charset="0"/>
                <a:ea typeface="Calibri" pitchFamily="34" charset="-122"/>
                <a:cs typeface="Calibri" pitchFamily="34" charset="-120"/>
              </a:rPr>
              <a:t>to Identify Courses</a:t>
            </a:r>
            <a:endParaRPr lang="en-US" sz="2200" dirty="0"/>
          </a:p>
        </p:txBody>
      </p:sp>
      <p:sp>
        <p:nvSpPr>
          <p:cNvPr id="8" name="Shape 6"/>
          <p:cNvSpPr/>
          <p:nvPr/>
        </p:nvSpPr>
        <p:spPr>
          <a:xfrm>
            <a:off x="1828800" y="2697480"/>
            <a:ext cx="5486400" cy="0"/>
          </a:xfrm>
          <a:prstGeom prst="line">
            <a:avLst/>
          </a:prstGeom>
          <a:noFill/>
          <a:ln w="12700">
            <a:solidFill>
              <a:srgbClr val="000000"/>
            </a:solidFill>
            <a:prstDash val="solid"/>
          </a:ln>
        </p:spPr>
        <p:txBody>
          <a:bodyPr/>
          <a:lstStyle/>
          <a:p>
            <a:endParaRPr lang="en-IN"/>
          </a:p>
        </p:txBody>
      </p:sp>
      <p:sp>
        <p:nvSpPr>
          <p:cNvPr id="9" name="Text 7"/>
          <p:cNvSpPr/>
          <p:nvPr/>
        </p:nvSpPr>
        <p:spPr>
          <a:xfrm>
            <a:off x="457200" y="2880360"/>
            <a:ext cx="5029200" cy="347472"/>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PRESENTED BY : </a:t>
            </a:r>
            <a:r>
              <a:rPr lang="en-US" sz="1300" dirty="0">
                <a:solidFill>
                  <a:srgbClr val="000000"/>
                </a:solidFill>
                <a:latin typeface="Calibri" pitchFamily="34" charset="0"/>
                <a:ea typeface="Calibri" pitchFamily="34" charset="-122"/>
                <a:cs typeface="Calibri" pitchFamily="34" charset="-120"/>
              </a:rPr>
              <a:t>Arman Shaikh  –  39</a:t>
            </a:r>
            <a:endParaRPr lang="en-US" sz="1300" dirty="0"/>
          </a:p>
        </p:txBody>
      </p:sp>
      <p:sp>
        <p:nvSpPr>
          <p:cNvPr id="10" name="Text 8"/>
          <p:cNvSpPr/>
          <p:nvPr/>
        </p:nvSpPr>
        <p:spPr>
          <a:xfrm>
            <a:off x="6400800" y="2880360"/>
            <a:ext cx="2560320" cy="347472"/>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SECTION : </a:t>
            </a:r>
            <a:r>
              <a:rPr lang="en-US" sz="1300" dirty="0">
                <a:solidFill>
                  <a:srgbClr val="000000"/>
                </a:solidFill>
                <a:latin typeface="Calibri" pitchFamily="34" charset="0"/>
                <a:ea typeface="Calibri" pitchFamily="34" charset="-122"/>
                <a:cs typeface="Calibri" pitchFamily="34" charset="-120"/>
              </a:rPr>
              <a:t>A</a:t>
            </a:r>
            <a:endParaRPr lang="en-US" sz="1300" dirty="0"/>
          </a:p>
        </p:txBody>
      </p:sp>
      <p:sp>
        <p:nvSpPr>
          <p:cNvPr id="11" name="Text 9"/>
          <p:cNvSpPr/>
          <p:nvPr/>
        </p:nvSpPr>
        <p:spPr>
          <a:xfrm>
            <a:off x="457200" y="3291840"/>
            <a:ext cx="5029200" cy="347472"/>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COLLEGE GUIDE : </a:t>
            </a:r>
            <a:r>
              <a:rPr lang="en-US" sz="1300" dirty="0">
                <a:solidFill>
                  <a:srgbClr val="000000"/>
                </a:solidFill>
                <a:latin typeface="Calibri" pitchFamily="34" charset="0"/>
                <a:ea typeface="Calibri" pitchFamily="34" charset="-122"/>
                <a:cs typeface="Calibri" pitchFamily="34" charset="-120"/>
              </a:rPr>
              <a:t>Dr. Piyush Ingole</a:t>
            </a:r>
            <a:endParaRPr lang="en-US" sz="1300" dirty="0"/>
          </a:p>
        </p:txBody>
      </p:sp>
      <p:sp>
        <p:nvSpPr>
          <p:cNvPr id="12" name="Text 10"/>
          <p:cNvSpPr/>
          <p:nvPr/>
        </p:nvSpPr>
        <p:spPr>
          <a:xfrm>
            <a:off x="6400800" y="3291840"/>
            <a:ext cx="2560320" cy="347472"/>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YEAR : </a:t>
            </a:r>
            <a:r>
              <a:rPr lang="en-US" sz="1300" dirty="0">
                <a:solidFill>
                  <a:srgbClr val="000000"/>
                </a:solidFill>
                <a:latin typeface="Calibri" pitchFamily="34" charset="0"/>
                <a:ea typeface="Calibri" pitchFamily="34" charset="-122"/>
                <a:cs typeface="Calibri" pitchFamily="34" charset="-120"/>
              </a:rPr>
              <a:t>2025–26</a:t>
            </a:r>
            <a:endParaRPr lang="en-US" sz="1300" dirty="0"/>
          </a:p>
        </p:txBody>
      </p:sp>
      <p:sp>
        <p:nvSpPr>
          <p:cNvPr id="13" name="Text 11"/>
          <p:cNvSpPr/>
          <p:nvPr/>
        </p:nvSpPr>
        <p:spPr>
          <a:xfrm>
            <a:off x="457200" y="3703320"/>
            <a:ext cx="5029200" cy="347472"/>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INDUSTRY GUIDE : </a:t>
            </a:r>
            <a:r>
              <a:rPr lang="en-US" sz="1300" dirty="0">
                <a:solidFill>
                  <a:srgbClr val="000000"/>
                </a:solidFill>
                <a:latin typeface="Calibri" pitchFamily="34" charset="0"/>
                <a:ea typeface="Calibri" pitchFamily="34" charset="-122"/>
                <a:cs typeface="Calibri" pitchFamily="34" charset="-120"/>
              </a:rPr>
              <a:t>Ashly M. Benny</a:t>
            </a:r>
            <a:endParaRPr lang="en-US" sz="1300" dirty="0"/>
          </a:p>
        </p:txBody>
      </p:sp>
      <p:sp>
        <p:nvSpPr>
          <p:cNvPr id="14" name="Text 12"/>
          <p:cNvSpPr/>
          <p:nvPr/>
        </p:nvSpPr>
        <p:spPr>
          <a:xfrm>
            <a:off x="457200" y="4114800"/>
            <a:ext cx="7315200" cy="347472"/>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COMPANY : </a:t>
            </a:r>
            <a:r>
              <a:rPr lang="en-US" sz="1300" dirty="0">
                <a:solidFill>
                  <a:srgbClr val="000000"/>
                </a:solidFill>
                <a:latin typeface="Calibri" pitchFamily="34" charset="0"/>
                <a:ea typeface="Calibri" pitchFamily="34" charset="-122"/>
                <a:cs typeface="Calibri" pitchFamily="34" charset="-120"/>
              </a:rPr>
              <a:t>Cognizant Technology Solutions</a:t>
            </a:r>
            <a:endParaRPr lang="en-US" sz="1300" dirty="0"/>
          </a:p>
        </p:txBody>
      </p:sp>
      <p:sp>
        <p:nvSpPr>
          <p:cNvPr id="15" name="Shape 13"/>
          <p:cNvSpPr/>
          <p:nvPr/>
        </p:nvSpPr>
        <p:spPr>
          <a:xfrm>
            <a:off x="0" y="5047488"/>
            <a:ext cx="9144000" cy="0"/>
          </a:xfrm>
          <a:prstGeom prst="line">
            <a:avLst/>
          </a:prstGeom>
          <a:noFill/>
          <a:ln w="25400">
            <a:solidFill>
              <a:srgbClr val="000000"/>
            </a:solidFill>
            <a:prstDash val="solid"/>
          </a:ln>
        </p:spPr>
        <p:txBody>
          <a:bodyPr/>
          <a:lstStyle/>
          <a:p>
            <a:endParaRPr lang="en-IN"/>
          </a:p>
        </p:txBody>
      </p:sp>
      <p:sp>
        <p:nvSpPr>
          <p:cNvPr id="16" name="Rectangle 1">
            <a:extLst>
              <a:ext uri="{FF2B5EF4-FFF2-40B4-BE49-F238E27FC236}">
                <a16:creationId xmlns:a16="http://schemas.microsoft.com/office/drawing/2014/main" id="{564CA76C-3CF3-236B-3E47-B9F497AAFE8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8" name="Rectangle 3">
            <a:extLst>
              <a:ext uri="{FF2B5EF4-FFF2-40B4-BE49-F238E27FC236}">
                <a16:creationId xmlns:a16="http://schemas.microsoft.com/office/drawing/2014/main" id="{7C359E3E-A50F-3CB9-C225-98DA9C8FE663}"/>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1" name="Rectangle 5">
            <a:extLst>
              <a:ext uri="{FF2B5EF4-FFF2-40B4-BE49-F238E27FC236}">
                <a16:creationId xmlns:a16="http://schemas.microsoft.com/office/drawing/2014/main" id="{364C1E01-2883-3076-38FE-CA93911442EE}"/>
              </a:ext>
            </a:extLst>
          </p:cNvPr>
          <p:cNvSpPr>
            <a:spLocks noChangeArrowheads="1"/>
          </p:cNvSpPr>
          <p:nvPr/>
        </p:nvSpPr>
        <p:spPr bwMode="auto">
          <a:xfrm>
            <a:off x="304800" y="304799"/>
            <a:ext cx="1281491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pSp>
        <p:nvGrpSpPr>
          <p:cNvPr id="22" name="Group 2">
            <a:extLst>
              <a:ext uri="{FF2B5EF4-FFF2-40B4-BE49-F238E27FC236}">
                <a16:creationId xmlns:a16="http://schemas.microsoft.com/office/drawing/2014/main" id="{1DB157A9-3EB4-8B48-5B2C-CD4F042009E0}"/>
              </a:ext>
            </a:extLst>
          </p:cNvPr>
          <p:cNvGrpSpPr/>
          <p:nvPr/>
        </p:nvGrpSpPr>
        <p:grpSpPr>
          <a:xfrm>
            <a:off x="304800" y="239559"/>
            <a:ext cx="884308" cy="784569"/>
            <a:chOff x="131110" y="173543"/>
            <a:chExt cx="2514573" cy="2230960"/>
          </a:xfrm>
        </p:grpSpPr>
        <p:sp>
          <p:nvSpPr>
            <p:cNvPr id="23" name="Freeform 3">
              <a:extLst>
                <a:ext uri="{FF2B5EF4-FFF2-40B4-BE49-F238E27FC236}">
                  <a16:creationId xmlns:a16="http://schemas.microsoft.com/office/drawing/2014/main" id="{6FFADA01-0183-507A-ADE7-CA0F880BC2E0}"/>
                </a:ext>
              </a:extLst>
            </p:cNvPr>
            <p:cNvSpPr/>
            <p:nvPr/>
          </p:nvSpPr>
          <p:spPr>
            <a:xfrm>
              <a:off x="131110" y="173543"/>
              <a:ext cx="2514573" cy="2230960"/>
            </a:xfrm>
            <a:custGeom>
              <a:avLst/>
              <a:gdLst/>
              <a:ahLst/>
              <a:cxnLst/>
              <a:rect l="l" t="t" r="r" b="b"/>
              <a:pathLst>
                <a:path w="2848102" h="2544699">
                  <a:moveTo>
                    <a:pt x="0" y="0"/>
                  </a:moveTo>
                  <a:lnTo>
                    <a:pt x="2848102" y="0"/>
                  </a:lnTo>
                  <a:lnTo>
                    <a:pt x="2848102" y="2544699"/>
                  </a:lnTo>
                  <a:lnTo>
                    <a:pt x="0" y="2544699"/>
                  </a:lnTo>
                  <a:lnTo>
                    <a:pt x="0" y="0"/>
                  </a:lnTo>
                  <a:close/>
                </a:path>
              </a:pathLst>
            </a:custGeom>
            <a:blipFill>
              <a:blip r:embed="rId3"/>
              <a:stretch>
                <a:fillRect b="-13594"/>
              </a:stretch>
            </a:blipFill>
          </p:spPr>
          <p:txBody>
            <a:bodyPr/>
            <a:lstStyle/>
            <a:p>
              <a:endParaRPr lang="en-IN" sz="900"/>
            </a:p>
          </p:txBody>
        </p:sp>
      </p:grpSp>
      <p:grpSp>
        <p:nvGrpSpPr>
          <p:cNvPr id="24" name="Group 4">
            <a:extLst>
              <a:ext uri="{FF2B5EF4-FFF2-40B4-BE49-F238E27FC236}">
                <a16:creationId xmlns:a16="http://schemas.microsoft.com/office/drawing/2014/main" id="{74363BBA-851A-D2A6-8444-E34B5F6E6488}"/>
              </a:ext>
            </a:extLst>
          </p:cNvPr>
          <p:cNvGrpSpPr/>
          <p:nvPr/>
        </p:nvGrpSpPr>
        <p:grpSpPr>
          <a:xfrm>
            <a:off x="7973843" y="209954"/>
            <a:ext cx="987268" cy="832104"/>
            <a:chOff x="0" y="0"/>
            <a:chExt cx="2848127" cy="2613127"/>
          </a:xfrm>
        </p:grpSpPr>
        <p:sp>
          <p:nvSpPr>
            <p:cNvPr id="25" name="Freeform 5">
              <a:extLst>
                <a:ext uri="{FF2B5EF4-FFF2-40B4-BE49-F238E27FC236}">
                  <a16:creationId xmlns:a16="http://schemas.microsoft.com/office/drawing/2014/main" id="{4B5032FE-645E-0457-1E37-DE0E10441462}"/>
                </a:ext>
              </a:extLst>
            </p:cNvPr>
            <p:cNvSpPr/>
            <p:nvPr/>
          </p:nvSpPr>
          <p:spPr>
            <a:xfrm>
              <a:off x="0" y="0"/>
              <a:ext cx="2848102" cy="2613152"/>
            </a:xfrm>
            <a:custGeom>
              <a:avLst/>
              <a:gdLst/>
              <a:ahLst/>
              <a:cxnLst/>
              <a:rect l="l" t="t" r="r" b="b"/>
              <a:pathLst>
                <a:path w="2848102" h="2613152">
                  <a:moveTo>
                    <a:pt x="0" y="0"/>
                  </a:moveTo>
                  <a:lnTo>
                    <a:pt x="2848102" y="0"/>
                  </a:lnTo>
                  <a:lnTo>
                    <a:pt x="2848102" y="2613152"/>
                  </a:lnTo>
                  <a:lnTo>
                    <a:pt x="0" y="2613152"/>
                  </a:lnTo>
                  <a:lnTo>
                    <a:pt x="0" y="0"/>
                  </a:lnTo>
                  <a:close/>
                </a:path>
              </a:pathLst>
            </a:custGeom>
            <a:blipFill>
              <a:blip r:embed="rId4"/>
              <a:stretch>
                <a:fillRect r="-3030"/>
              </a:stretch>
            </a:blipFill>
          </p:spPr>
          <p:txBody>
            <a:bodyPr/>
            <a:lstStyle/>
            <a:p>
              <a:endParaRPr lang="en-IN" sz="90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lIns="0" tIns="0" rIns="0" bIns="0"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Table of Contents</a:t>
            </a:r>
            <a:endParaRPr lang="en-US" sz="2400" dirty="0"/>
          </a:p>
        </p:txBody>
      </p:sp>
      <p:sp>
        <p:nvSpPr>
          <p:cNvPr id="3" name="Shape 1"/>
          <p:cNvSpPr/>
          <p:nvPr/>
        </p:nvSpPr>
        <p:spPr>
          <a:xfrm>
            <a:off x="365760" y="713232"/>
            <a:ext cx="8412480" cy="0"/>
          </a:xfrm>
          <a:prstGeom prst="line">
            <a:avLst/>
          </a:prstGeom>
          <a:noFill/>
          <a:ln w="19050">
            <a:solidFill>
              <a:srgbClr val="000000"/>
            </a:solidFill>
            <a:prstDash val="solid"/>
          </a:ln>
        </p:spPr>
        <p:txBody>
          <a:bodyPr/>
          <a:lstStyle/>
          <a:p>
            <a:endParaRPr lang="en-IN"/>
          </a:p>
        </p:txBody>
      </p:sp>
      <p:sp>
        <p:nvSpPr>
          <p:cNvPr id="4" name="Text 2"/>
          <p:cNvSpPr/>
          <p:nvPr/>
        </p:nvSpPr>
        <p:spPr>
          <a:xfrm>
            <a:off x="457200" y="868680"/>
            <a:ext cx="4114800" cy="45720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1.  Introduction to the Report</a:t>
            </a:r>
            <a:endParaRPr lang="en-US" sz="1300" dirty="0"/>
          </a:p>
        </p:txBody>
      </p:sp>
      <p:sp>
        <p:nvSpPr>
          <p:cNvPr id="5" name="Text 3"/>
          <p:cNvSpPr/>
          <p:nvPr/>
        </p:nvSpPr>
        <p:spPr>
          <a:xfrm>
            <a:off x="457200" y="1490472"/>
            <a:ext cx="4114800" cy="45720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2.  About Cognizant Technology Solutions</a:t>
            </a:r>
            <a:endParaRPr lang="en-US" sz="1300" dirty="0"/>
          </a:p>
        </p:txBody>
      </p:sp>
      <p:sp>
        <p:nvSpPr>
          <p:cNvPr id="6" name="Text 4"/>
          <p:cNvSpPr/>
          <p:nvPr/>
        </p:nvSpPr>
        <p:spPr>
          <a:xfrm>
            <a:off x="457200" y="2112264"/>
            <a:ext cx="4114800" cy="45720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3.  About GenC QEA Internship Program</a:t>
            </a:r>
            <a:endParaRPr lang="en-US" sz="1300" dirty="0"/>
          </a:p>
        </p:txBody>
      </p:sp>
      <p:sp>
        <p:nvSpPr>
          <p:cNvPr id="7" name="Text 5"/>
          <p:cNvSpPr/>
          <p:nvPr/>
        </p:nvSpPr>
        <p:spPr>
          <a:xfrm>
            <a:off x="457200" y="2734056"/>
            <a:ext cx="4114800" cy="45720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4.  Training – Topics &amp; Technologies</a:t>
            </a:r>
            <a:endParaRPr lang="en-US" sz="1300" dirty="0"/>
          </a:p>
        </p:txBody>
      </p:sp>
      <p:sp>
        <p:nvSpPr>
          <p:cNvPr id="8" name="Text 6"/>
          <p:cNvSpPr/>
          <p:nvPr/>
        </p:nvSpPr>
        <p:spPr>
          <a:xfrm>
            <a:off x="457200" y="3355848"/>
            <a:ext cx="4114800" cy="45720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5.  Project Overview &amp; Problem Statement</a:t>
            </a:r>
            <a:endParaRPr lang="en-US" sz="1300" dirty="0"/>
          </a:p>
        </p:txBody>
      </p:sp>
      <p:sp>
        <p:nvSpPr>
          <p:cNvPr id="9" name="Text 7"/>
          <p:cNvSpPr/>
          <p:nvPr/>
        </p:nvSpPr>
        <p:spPr>
          <a:xfrm>
            <a:off x="457200" y="3977640"/>
            <a:ext cx="4114800" cy="45720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6.  Automation Tasks (Task 1, 2 &amp; 3)</a:t>
            </a:r>
            <a:endParaRPr lang="en-US" sz="1300" dirty="0"/>
          </a:p>
        </p:txBody>
      </p:sp>
      <p:sp>
        <p:nvSpPr>
          <p:cNvPr id="10" name="Text 8"/>
          <p:cNvSpPr/>
          <p:nvPr/>
        </p:nvSpPr>
        <p:spPr>
          <a:xfrm>
            <a:off x="4846320" y="868680"/>
            <a:ext cx="4114800" cy="45720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7.  Framework Architecture</a:t>
            </a:r>
            <a:endParaRPr lang="en-US" sz="1300" dirty="0"/>
          </a:p>
        </p:txBody>
      </p:sp>
      <p:sp>
        <p:nvSpPr>
          <p:cNvPr id="11" name="Text 9"/>
          <p:cNvSpPr/>
          <p:nvPr/>
        </p:nvSpPr>
        <p:spPr>
          <a:xfrm>
            <a:off x="4846320" y="1490472"/>
            <a:ext cx="4114800" cy="45720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8.  Challenges &amp; Solutions</a:t>
            </a:r>
            <a:endParaRPr lang="en-US" sz="1300" dirty="0"/>
          </a:p>
        </p:txBody>
      </p:sp>
      <p:sp>
        <p:nvSpPr>
          <p:cNvPr id="12" name="Text 10"/>
          <p:cNvSpPr/>
          <p:nvPr/>
        </p:nvSpPr>
        <p:spPr>
          <a:xfrm>
            <a:off x="4846320" y="2112264"/>
            <a:ext cx="4114800" cy="45720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9.  Weekly Work Log</a:t>
            </a:r>
            <a:endParaRPr lang="en-US" sz="1300" dirty="0"/>
          </a:p>
        </p:txBody>
      </p:sp>
      <p:sp>
        <p:nvSpPr>
          <p:cNvPr id="13" name="Text 11"/>
          <p:cNvSpPr/>
          <p:nvPr/>
        </p:nvSpPr>
        <p:spPr>
          <a:xfrm>
            <a:off x="4846320" y="2734056"/>
            <a:ext cx="4114800" cy="45720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10.  Conclusion</a:t>
            </a:r>
            <a:endParaRPr lang="en-US" sz="1300" dirty="0"/>
          </a:p>
        </p:txBody>
      </p:sp>
      <p:sp>
        <p:nvSpPr>
          <p:cNvPr id="14" name="Text 12"/>
          <p:cNvSpPr/>
          <p:nvPr/>
        </p:nvSpPr>
        <p:spPr>
          <a:xfrm>
            <a:off x="4846320" y="3355848"/>
            <a:ext cx="4114800" cy="45720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11.  References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lIns="0" tIns="0" rIns="0" bIns="0"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Introduction</a:t>
            </a:r>
            <a:endParaRPr lang="en-US" sz="2400" dirty="0"/>
          </a:p>
        </p:txBody>
      </p:sp>
      <p:sp>
        <p:nvSpPr>
          <p:cNvPr id="3" name="Shape 1"/>
          <p:cNvSpPr/>
          <p:nvPr/>
        </p:nvSpPr>
        <p:spPr>
          <a:xfrm>
            <a:off x="365760" y="713232"/>
            <a:ext cx="8412480" cy="0"/>
          </a:xfrm>
          <a:prstGeom prst="line">
            <a:avLst/>
          </a:prstGeom>
          <a:noFill/>
          <a:ln w="19050">
            <a:solidFill>
              <a:srgbClr val="000000"/>
            </a:solidFill>
            <a:prstDash val="solid"/>
          </a:ln>
        </p:spPr>
        <p:txBody>
          <a:bodyPr/>
          <a:lstStyle/>
          <a:p>
            <a:endParaRPr lang="en-IN"/>
          </a:p>
        </p:txBody>
      </p:sp>
      <p:sp>
        <p:nvSpPr>
          <p:cNvPr id="4" name="Text 2"/>
          <p:cNvSpPr/>
          <p:nvPr/>
        </p:nvSpPr>
        <p:spPr>
          <a:xfrm>
            <a:off x="365760" y="868680"/>
            <a:ext cx="4114800" cy="347472"/>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Background</a:t>
            </a:r>
            <a:endParaRPr lang="en-US" sz="1300" dirty="0"/>
          </a:p>
        </p:txBody>
      </p:sp>
      <p:sp>
        <p:nvSpPr>
          <p:cNvPr id="5" name="Shape 3"/>
          <p:cNvSpPr/>
          <p:nvPr/>
        </p:nvSpPr>
        <p:spPr>
          <a:xfrm>
            <a:off x="365760" y="1216152"/>
            <a:ext cx="4023360" cy="0"/>
          </a:xfrm>
          <a:prstGeom prst="line">
            <a:avLst/>
          </a:prstGeom>
          <a:noFill/>
          <a:ln w="12700">
            <a:solidFill>
              <a:srgbClr val="DDDDDD"/>
            </a:solidFill>
            <a:prstDash val="solid"/>
          </a:ln>
        </p:spPr>
        <p:txBody>
          <a:bodyPr/>
          <a:lstStyle/>
          <a:p>
            <a:endParaRPr lang="en-IN"/>
          </a:p>
        </p:txBody>
      </p:sp>
      <p:sp>
        <p:nvSpPr>
          <p:cNvPr id="6" name="Text 4"/>
          <p:cNvSpPr/>
          <p:nvPr/>
        </p:nvSpPr>
        <p:spPr>
          <a:xfrm>
            <a:off x="365760" y="1280160"/>
            <a:ext cx="4069080" cy="1463040"/>
          </a:xfrm>
          <a:prstGeom prst="rect">
            <a:avLst/>
          </a:prstGeom>
          <a:noFill/>
          <a:ln/>
        </p:spPr>
        <p:txBody>
          <a:bodyPr wrap="square" lIns="0" tIns="0" rIns="0" bIns="0" rtlCol="0" anchor="t"/>
          <a:lstStyle/>
          <a:p>
            <a:pPr marL="0" indent="0">
              <a:lnSpc>
                <a:spcPct val="135000"/>
              </a:lnSpc>
              <a:buNone/>
            </a:pPr>
            <a:r>
              <a:rPr lang="en-US" sz="1150" dirty="0">
                <a:solidFill>
                  <a:srgbClr val="000000"/>
                </a:solidFill>
                <a:latin typeface="Calibri" pitchFamily="34" charset="0"/>
                <a:ea typeface="Calibri" pitchFamily="34" charset="-122"/>
                <a:cs typeface="Calibri" pitchFamily="34" charset="-120"/>
              </a:rPr>
              <a:t>The rapid growth of digital technology has transformed online education. Platforms like Coursera host thousands of courses, making robust Quality Assurance and web automation testing critical for reliability and user experience.</a:t>
            </a:r>
            <a:endParaRPr lang="en-US" sz="1150" dirty="0"/>
          </a:p>
        </p:txBody>
      </p:sp>
      <p:sp>
        <p:nvSpPr>
          <p:cNvPr id="7" name="Text 5"/>
          <p:cNvSpPr/>
          <p:nvPr/>
        </p:nvSpPr>
        <p:spPr>
          <a:xfrm>
            <a:off x="4754880" y="868680"/>
            <a:ext cx="4114800" cy="347472"/>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Purpose</a:t>
            </a:r>
            <a:endParaRPr lang="en-US" sz="1300" dirty="0"/>
          </a:p>
        </p:txBody>
      </p:sp>
      <p:sp>
        <p:nvSpPr>
          <p:cNvPr id="8" name="Shape 6"/>
          <p:cNvSpPr/>
          <p:nvPr/>
        </p:nvSpPr>
        <p:spPr>
          <a:xfrm>
            <a:off x="4754880" y="1216152"/>
            <a:ext cx="4023360" cy="0"/>
          </a:xfrm>
          <a:prstGeom prst="line">
            <a:avLst/>
          </a:prstGeom>
          <a:noFill/>
          <a:ln w="12700">
            <a:solidFill>
              <a:srgbClr val="DDDDDD"/>
            </a:solidFill>
            <a:prstDash val="solid"/>
          </a:ln>
        </p:spPr>
        <p:txBody>
          <a:bodyPr/>
          <a:lstStyle/>
          <a:p>
            <a:endParaRPr lang="en-IN"/>
          </a:p>
        </p:txBody>
      </p:sp>
      <p:sp>
        <p:nvSpPr>
          <p:cNvPr id="9" name="Text 7"/>
          <p:cNvSpPr/>
          <p:nvPr/>
        </p:nvSpPr>
        <p:spPr>
          <a:xfrm>
            <a:off x="4754880" y="1280160"/>
            <a:ext cx="4069080" cy="1463040"/>
          </a:xfrm>
          <a:prstGeom prst="rect">
            <a:avLst/>
          </a:prstGeom>
          <a:noFill/>
          <a:ln/>
        </p:spPr>
        <p:txBody>
          <a:bodyPr wrap="square" lIns="0" tIns="0" rIns="0" bIns="0" rtlCol="0" anchor="t"/>
          <a:lstStyle/>
          <a:p>
            <a:pPr marL="0" indent="0">
              <a:lnSpc>
                <a:spcPct val="135000"/>
              </a:lnSpc>
              <a:buNone/>
            </a:pPr>
            <a:r>
              <a:rPr lang="en-US" sz="1150" dirty="0">
                <a:solidFill>
                  <a:srgbClr val="000000"/>
                </a:solidFill>
                <a:latin typeface="Calibri" pitchFamily="34" charset="0"/>
                <a:ea typeface="Calibri" pitchFamily="34" charset="-122"/>
                <a:cs typeface="Calibri" pitchFamily="34" charset="-120"/>
              </a:rPr>
              <a:t>To document the automation internship at Cognizant Technology Solutions, covering the problem statement, methodology, tasks performed, observations, and outcomes of the GenC QEA program.</a:t>
            </a:r>
            <a:endParaRPr lang="en-US" sz="1150" dirty="0"/>
          </a:p>
        </p:txBody>
      </p:sp>
      <p:sp>
        <p:nvSpPr>
          <p:cNvPr id="10" name="Text 8"/>
          <p:cNvSpPr/>
          <p:nvPr/>
        </p:nvSpPr>
        <p:spPr>
          <a:xfrm>
            <a:off x="365760" y="2880360"/>
            <a:ext cx="4114800" cy="347472"/>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Objectives</a:t>
            </a:r>
            <a:endParaRPr lang="en-US" sz="1300" dirty="0"/>
          </a:p>
        </p:txBody>
      </p:sp>
      <p:sp>
        <p:nvSpPr>
          <p:cNvPr id="11" name="Shape 9"/>
          <p:cNvSpPr/>
          <p:nvPr/>
        </p:nvSpPr>
        <p:spPr>
          <a:xfrm>
            <a:off x="365760" y="3227832"/>
            <a:ext cx="4023360" cy="0"/>
          </a:xfrm>
          <a:prstGeom prst="line">
            <a:avLst/>
          </a:prstGeom>
          <a:noFill/>
          <a:ln w="12700">
            <a:solidFill>
              <a:srgbClr val="DDDDDD"/>
            </a:solidFill>
            <a:prstDash val="solid"/>
          </a:ln>
        </p:spPr>
        <p:txBody>
          <a:bodyPr/>
          <a:lstStyle/>
          <a:p>
            <a:endParaRPr lang="en-IN"/>
          </a:p>
        </p:txBody>
      </p:sp>
      <p:sp>
        <p:nvSpPr>
          <p:cNvPr id="12" name="Text 10"/>
          <p:cNvSpPr/>
          <p:nvPr/>
        </p:nvSpPr>
        <p:spPr>
          <a:xfrm>
            <a:off x="365760" y="3291840"/>
            <a:ext cx="4069080" cy="1463040"/>
          </a:xfrm>
          <a:prstGeom prst="rect">
            <a:avLst/>
          </a:prstGeom>
          <a:noFill/>
          <a:ln/>
        </p:spPr>
        <p:txBody>
          <a:bodyPr wrap="square" lIns="0" tIns="0" rIns="0" bIns="0" rtlCol="0" anchor="t"/>
          <a:lstStyle/>
          <a:p>
            <a:pPr marL="0" indent="0">
              <a:lnSpc>
                <a:spcPct val="135000"/>
              </a:lnSpc>
              <a:buNone/>
            </a:pPr>
            <a:r>
              <a:rPr lang="en-US" sz="1150" dirty="0">
                <a:solidFill>
                  <a:srgbClr val="000000"/>
                </a:solidFill>
                <a:latin typeface="Calibri" pitchFamily="34" charset="0"/>
                <a:ea typeface="Calibri" pitchFamily="34" charset="-122"/>
                <a:cs typeface="Calibri" pitchFamily="34" charset="-120"/>
              </a:rPr>
              <a:t>Apply web automation in a real-world industry setting  ·  Automate course search &amp; data extraction on Coursera  ·  Handle dynamic elements: dropdowns, forms, multi-windows  ·  Perform form validation &amp; error-message capture  ·  Build skills in Java, Selenium, BDD, TestNG &amp; CI/CD</a:t>
            </a:r>
            <a:endParaRPr lang="en-US" sz="1150" dirty="0"/>
          </a:p>
        </p:txBody>
      </p:sp>
      <p:sp>
        <p:nvSpPr>
          <p:cNvPr id="13" name="Text 11"/>
          <p:cNvSpPr/>
          <p:nvPr/>
        </p:nvSpPr>
        <p:spPr>
          <a:xfrm>
            <a:off x="4754880" y="2880360"/>
            <a:ext cx="4114800" cy="347472"/>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Scope of Work</a:t>
            </a:r>
            <a:endParaRPr lang="en-US" sz="1300" dirty="0"/>
          </a:p>
        </p:txBody>
      </p:sp>
      <p:sp>
        <p:nvSpPr>
          <p:cNvPr id="14" name="Shape 12"/>
          <p:cNvSpPr/>
          <p:nvPr/>
        </p:nvSpPr>
        <p:spPr>
          <a:xfrm>
            <a:off x="4754880" y="3227832"/>
            <a:ext cx="4023360" cy="0"/>
          </a:xfrm>
          <a:prstGeom prst="line">
            <a:avLst/>
          </a:prstGeom>
          <a:noFill/>
          <a:ln w="12700">
            <a:solidFill>
              <a:srgbClr val="DDDDDD"/>
            </a:solidFill>
            <a:prstDash val="solid"/>
          </a:ln>
        </p:spPr>
        <p:txBody>
          <a:bodyPr/>
          <a:lstStyle/>
          <a:p>
            <a:endParaRPr lang="en-IN"/>
          </a:p>
        </p:txBody>
      </p:sp>
      <p:sp>
        <p:nvSpPr>
          <p:cNvPr id="15" name="Text 13"/>
          <p:cNvSpPr/>
          <p:nvPr/>
        </p:nvSpPr>
        <p:spPr>
          <a:xfrm>
            <a:off x="4754880" y="3291840"/>
            <a:ext cx="4069080" cy="1463040"/>
          </a:xfrm>
          <a:prstGeom prst="rect">
            <a:avLst/>
          </a:prstGeom>
          <a:noFill/>
          <a:ln/>
        </p:spPr>
        <p:txBody>
          <a:bodyPr wrap="square" lIns="0" tIns="0" rIns="0" bIns="0" rtlCol="0" anchor="t"/>
          <a:lstStyle/>
          <a:p>
            <a:pPr marL="0" indent="0">
              <a:lnSpc>
                <a:spcPct val="135000"/>
              </a:lnSpc>
              <a:buNone/>
            </a:pPr>
            <a:r>
              <a:rPr lang="en-US" sz="1150" dirty="0">
                <a:solidFill>
                  <a:srgbClr val="000000"/>
                </a:solidFill>
                <a:latin typeface="Calibri" pitchFamily="34" charset="0"/>
                <a:ea typeface="Calibri" pitchFamily="34" charset="-122"/>
                <a:cs typeface="Calibri" pitchFamily="34" charset="-120"/>
              </a:rPr>
              <a:t>Task 1: Search &amp; extract beginner Web Dev courses  ·  Task 2: Extract Language Learning categories, levels &amp; course counts  ·  Task 3: Fill enterprise contact form with invalid email &amp; capture validation error</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lIns="0" tIns="0" rIns="0" bIns="0"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About Cognizant Technology Solutions</a:t>
            </a:r>
            <a:endParaRPr lang="en-US" sz="2400" dirty="0"/>
          </a:p>
        </p:txBody>
      </p:sp>
      <p:sp>
        <p:nvSpPr>
          <p:cNvPr id="3" name="Shape 1"/>
          <p:cNvSpPr/>
          <p:nvPr/>
        </p:nvSpPr>
        <p:spPr>
          <a:xfrm>
            <a:off x="365760" y="713232"/>
            <a:ext cx="8412480" cy="0"/>
          </a:xfrm>
          <a:prstGeom prst="line">
            <a:avLst/>
          </a:prstGeom>
          <a:noFill/>
          <a:ln w="19050">
            <a:solidFill>
              <a:srgbClr val="000000"/>
            </a:solidFill>
            <a:prstDash val="solid"/>
          </a:ln>
        </p:spPr>
        <p:txBody>
          <a:bodyPr/>
          <a:lstStyle/>
          <a:p>
            <a:endParaRPr lang="en-IN"/>
          </a:p>
        </p:txBody>
      </p:sp>
      <p:sp>
        <p:nvSpPr>
          <p:cNvPr id="4" name="Text 2"/>
          <p:cNvSpPr/>
          <p:nvPr/>
        </p:nvSpPr>
        <p:spPr>
          <a:xfrm>
            <a:off x="365760" y="822960"/>
            <a:ext cx="8412480" cy="777240"/>
          </a:xfrm>
          <a:prstGeom prst="rect">
            <a:avLst/>
          </a:prstGeom>
          <a:noFill/>
          <a:ln/>
        </p:spPr>
        <p:txBody>
          <a:bodyPr wrap="square" lIns="0" tIns="0" rIns="0" bIns="0" rtlCol="0" anchor="t"/>
          <a:lstStyle/>
          <a:p>
            <a:pPr marL="0" indent="0">
              <a:lnSpc>
                <a:spcPct val="135000"/>
              </a:lnSpc>
              <a:buNone/>
            </a:pPr>
            <a:r>
              <a:rPr lang="en-US" sz="1200" dirty="0">
                <a:solidFill>
                  <a:srgbClr val="000000"/>
                </a:solidFill>
                <a:latin typeface="Calibri" pitchFamily="34" charset="0"/>
                <a:ea typeface="Calibri" pitchFamily="34" charset="-122"/>
                <a:cs typeface="Calibri" pitchFamily="34" charset="-120"/>
              </a:rPr>
              <a:t>Cognizant Technology Solutions is a global professional services company headquartered in Teaneck, New Jersey, USA. Listed on NASDAQ (CTSH), it employs over 300,000 professionals across industries including banking, healthcare, retail, and technology. It is consistently ranked among the most admired IT services companies worldwide.</a:t>
            </a:r>
            <a:endParaRPr lang="en-US" sz="1200" dirty="0"/>
          </a:p>
        </p:txBody>
      </p:sp>
      <p:sp>
        <p:nvSpPr>
          <p:cNvPr id="5" name="Shape 3"/>
          <p:cNvSpPr/>
          <p:nvPr/>
        </p:nvSpPr>
        <p:spPr>
          <a:xfrm>
            <a:off x="365760" y="1664208"/>
            <a:ext cx="8412480" cy="0"/>
          </a:xfrm>
          <a:prstGeom prst="line">
            <a:avLst/>
          </a:prstGeom>
          <a:noFill/>
          <a:ln w="12700">
            <a:solidFill>
              <a:srgbClr val="DDDDDD"/>
            </a:solidFill>
            <a:prstDash val="solid"/>
          </a:ln>
        </p:spPr>
        <p:txBody>
          <a:bodyPr/>
          <a:lstStyle/>
          <a:p>
            <a:endParaRPr lang="en-IN"/>
          </a:p>
        </p:txBody>
      </p:sp>
      <p:sp>
        <p:nvSpPr>
          <p:cNvPr id="6" name="Text 4"/>
          <p:cNvSpPr/>
          <p:nvPr/>
        </p:nvSpPr>
        <p:spPr>
          <a:xfrm>
            <a:off x="365760" y="1737360"/>
            <a:ext cx="8412480" cy="347472"/>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Quality Engineering &amp; Assurance (QEA)</a:t>
            </a:r>
            <a:endParaRPr lang="en-US" sz="1300" dirty="0"/>
          </a:p>
        </p:txBody>
      </p:sp>
      <p:sp>
        <p:nvSpPr>
          <p:cNvPr id="7" name="Text 5"/>
          <p:cNvSpPr/>
          <p:nvPr/>
        </p:nvSpPr>
        <p:spPr>
          <a:xfrm>
            <a:off x="365760" y="2103120"/>
            <a:ext cx="8412480" cy="640080"/>
          </a:xfrm>
          <a:prstGeom prst="rect">
            <a:avLst/>
          </a:prstGeom>
          <a:noFill/>
          <a:ln/>
        </p:spPr>
        <p:txBody>
          <a:bodyPr wrap="square" lIns="0" tIns="0" rIns="0" bIns="0" rtlCol="0" anchor="t"/>
          <a:lstStyle/>
          <a:p>
            <a:pPr marL="0" indent="0">
              <a:lnSpc>
                <a:spcPct val="135000"/>
              </a:lnSpc>
              <a:buNone/>
            </a:pPr>
            <a:r>
              <a:rPr lang="en-US" sz="1200" dirty="0">
                <a:solidFill>
                  <a:srgbClr val="000000"/>
                </a:solidFill>
                <a:latin typeface="Calibri" pitchFamily="34" charset="0"/>
                <a:ea typeface="Calibri" pitchFamily="34" charset="-122"/>
                <a:cs typeface="Calibri" pitchFamily="34" charset="-120"/>
              </a:rPr>
              <a:t>Cognizant's QEA division is dedicated to ensuring the quality, reliability, and performance of enterprise applications. It offers intelligent and automated QA, modernisation assurance, and experience assurance services. The division leverages AI and automation to accelerate testing efficiency across healthcare, finance, and retail sectors.</a:t>
            </a:r>
            <a:endParaRPr lang="en-US" sz="1200" dirty="0"/>
          </a:p>
        </p:txBody>
      </p:sp>
      <p:sp>
        <p:nvSpPr>
          <p:cNvPr id="8" name="Shape 6"/>
          <p:cNvSpPr/>
          <p:nvPr/>
        </p:nvSpPr>
        <p:spPr>
          <a:xfrm>
            <a:off x="365760" y="2816352"/>
            <a:ext cx="8412480" cy="0"/>
          </a:xfrm>
          <a:prstGeom prst="line">
            <a:avLst/>
          </a:prstGeom>
          <a:noFill/>
          <a:ln w="12700">
            <a:solidFill>
              <a:srgbClr val="DDDDDD"/>
            </a:solidFill>
            <a:prstDash val="solid"/>
          </a:ln>
        </p:spPr>
        <p:txBody>
          <a:bodyPr/>
          <a:lstStyle/>
          <a:p>
            <a:endParaRPr lang="en-IN"/>
          </a:p>
        </p:txBody>
      </p:sp>
      <p:sp>
        <p:nvSpPr>
          <p:cNvPr id="9" name="Text 7"/>
          <p:cNvSpPr/>
          <p:nvPr/>
        </p:nvSpPr>
        <p:spPr>
          <a:xfrm>
            <a:off x="365760" y="2880360"/>
            <a:ext cx="8412480" cy="347472"/>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Generation Cognizant (GenC) – Internship Program</a:t>
            </a:r>
            <a:endParaRPr lang="en-US" sz="1300" dirty="0"/>
          </a:p>
        </p:txBody>
      </p:sp>
      <p:sp>
        <p:nvSpPr>
          <p:cNvPr id="10" name="Text 8"/>
          <p:cNvSpPr/>
          <p:nvPr/>
        </p:nvSpPr>
        <p:spPr>
          <a:xfrm>
            <a:off x="365760" y="3246120"/>
            <a:ext cx="8412480" cy="685800"/>
          </a:xfrm>
          <a:prstGeom prst="rect">
            <a:avLst/>
          </a:prstGeom>
          <a:noFill/>
          <a:ln/>
        </p:spPr>
        <p:txBody>
          <a:bodyPr wrap="square" lIns="0" tIns="0" rIns="0" bIns="0" rtlCol="0" anchor="t"/>
          <a:lstStyle/>
          <a:p>
            <a:pPr marL="0" indent="0">
              <a:lnSpc>
                <a:spcPct val="135000"/>
              </a:lnSpc>
              <a:buNone/>
            </a:pPr>
            <a:r>
              <a:rPr lang="en-US" sz="1200" dirty="0">
                <a:solidFill>
                  <a:srgbClr val="000000"/>
                </a:solidFill>
                <a:latin typeface="Calibri" pitchFamily="34" charset="0"/>
                <a:ea typeface="Calibri" pitchFamily="34" charset="-122"/>
                <a:cs typeface="Calibri" pitchFamily="34" charset="-120"/>
              </a:rPr>
              <a:t>GenC is a structured learning initiative for young talent, built on the principle of Learner Autonomy. It uses a Flipped Classroom approach — combining self-paced study on Udemy and Tekstac with live SME-guided sessions. The emphasis is on "learning by doing" to develop professional software engineering skills through hands-on project work.</a:t>
            </a:r>
            <a:endParaRPr lang="en-US" sz="1200" dirty="0"/>
          </a:p>
        </p:txBody>
      </p:sp>
      <p:sp>
        <p:nvSpPr>
          <p:cNvPr id="11" name="Shape 9"/>
          <p:cNvSpPr/>
          <p:nvPr/>
        </p:nvSpPr>
        <p:spPr>
          <a:xfrm>
            <a:off x="365760" y="4005072"/>
            <a:ext cx="8412480" cy="0"/>
          </a:xfrm>
          <a:prstGeom prst="line">
            <a:avLst/>
          </a:prstGeom>
          <a:noFill/>
          <a:ln w="12700">
            <a:solidFill>
              <a:srgbClr val="DDDDDD"/>
            </a:solidFill>
            <a:prstDash val="solid"/>
          </a:ln>
        </p:spPr>
        <p:txBody>
          <a:bodyPr/>
          <a:lstStyle/>
          <a:p>
            <a:endParaRPr lang="en-IN"/>
          </a:p>
        </p:txBody>
      </p:sp>
      <p:sp>
        <p:nvSpPr>
          <p:cNvPr id="12" name="Text 10"/>
          <p:cNvSpPr/>
          <p:nvPr/>
        </p:nvSpPr>
        <p:spPr>
          <a:xfrm>
            <a:off x="365760" y="4069080"/>
            <a:ext cx="8412480" cy="347472"/>
          </a:xfrm>
          <a:prstGeom prst="rect">
            <a:avLst/>
          </a:prstGeom>
          <a:noFill/>
          <a:ln/>
        </p:spPr>
        <p:txBody>
          <a:bodyPr wrap="square" lIns="0" tIns="0" rIns="0" bIns="0" rtlCol="0" anchor="ctr"/>
          <a:lstStyle/>
          <a:p>
            <a:pPr marL="0" indent="0">
              <a:buNone/>
            </a:pPr>
            <a:r>
              <a:rPr lang="en-US" sz="1150" dirty="0">
                <a:solidFill>
                  <a:srgbClr val="555555"/>
                </a:solidFill>
                <a:latin typeface="Calibri" pitchFamily="34" charset="0"/>
                <a:ea typeface="Calibri" pitchFamily="34" charset="-122"/>
                <a:cs typeface="Calibri" pitchFamily="34" charset="-120"/>
              </a:rPr>
              <a:t>Internship Duration: Jan 31, 2025 – May 20, 2026  (110 Days)   |   Industry Supervisor: Ashly M. Benny, POC GenC Training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lIns="0" tIns="0" rIns="0" bIns="0"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Training Component – 65-Day Learning Journey</a:t>
            </a:r>
            <a:endParaRPr lang="en-US" sz="2400" dirty="0"/>
          </a:p>
        </p:txBody>
      </p:sp>
      <p:sp>
        <p:nvSpPr>
          <p:cNvPr id="3" name="Shape 1"/>
          <p:cNvSpPr/>
          <p:nvPr/>
        </p:nvSpPr>
        <p:spPr>
          <a:xfrm>
            <a:off x="365760" y="713232"/>
            <a:ext cx="8412480" cy="0"/>
          </a:xfrm>
          <a:prstGeom prst="line">
            <a:avLst/>
          </a:prstGeom>
          <a:noFill/>
          <a:ln w="19050">
            <a:solidFill>
              <a:srgbClr val="000000"/>
            </a:solidFill>
            <a:prstDash val="solid"/>
          </a:ln>
        </p:spPr>
        <p:txBody>
          <a:bodyPr/>
          <a:lstStyle/>
          <a:p>
            <a:endParaRPr lang="en-IN"/>
          </a:p>
        </p:txBody>
      </p:sp>
      <p:sp>
        <p:nvSpPr>
          <p:cNvPr id="4" name="Text 2"/>
          <p:cNvSpPr/>
          <p:nvPr/>
        </p:nvSpPr>
        <p:spPr>
          <a:xfrm>
            <a:off x="365760" y="822960"/>
            <a:ext cx="4114800" cy="347472"/>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Stage 1 – Core Java with SQL  (Day 1 – 21)</a:t>
            </a:r>
            <a:endParaRPr lang="en-US" sz="1300" dirty="0"/>
          </a:p>
        </p:txBody>
      </p:sp>
      <p:sp>
        <p:nvSpPr>
          <p:cNvPr id="5" name="Shape 3"/>
          <p:cNvSpPr/>
          <p:nvPr/>
        </p:nvSpPr>
        <p:spPr>
          <a:xfrm>
            <a:off x="365760" y="1170432"/>
            <a:ext cx="4023360" cy="0"/>
          </a:xfrm>
          <a:prstGeom prst="line">
            <a:avLst/>
          </a:prstGeom>
          <a:noFill/>
          <a:ln w="12700">
            <a:solidFill>
              <a:srgbClr val="DDDDDD"/>
            </a:solidFill>
            <a:prstDash val="solid"/>
          </a:ln>
        </p:spPr>
        <p:txBody>
          <a:bodyPr/>
          <a:lstStyle/>
          <a:p>
            <a:endParaRPr lang="en-IN"/>
          </a:p>
        </p:txBody>
      </p:sp>
      <p:sp>
        <p:nvSpPr>
          <p:cNvPr id="6" name="Text 4"/>
          <p:cNvSpPr/>
          <p:nvPr/>
        </p:nvSpPr>
        <p:spPr>
          <a:xfrm>
            <a:off x="365760" y="1234440"/>
            <a:ext cx="4023360" cy="1828800"/>
          </a:xfrm>
          <a:prstGeom prst="rect">
            <a:avLst/>
          </a:prstGeom>
          <a:noFill/>
          <a:ln/>
        </p:spPr>
        <p:txBody>
          <a:bodyPr wrap="square" lIns="0" tIns="0" rIns="0" bIns="0" rtlCol="0" anchor="t"/>
          <a:lstStyle/>
          <a:p>
            <a:pPr marL="0" indent="0">
              <a:lnSpc>
                <a:spcPct val="150000"/>
              </a:lnSpc>
              <a:buNone/>
            </a:pPr>
            <a:r>
              <a:rPr lang="en-US" sz="1150" b="1" dirty="0">
                <a:solidFill>
                  <a:srgbClr val="000000"/>
                </a:solidFill>
                <a:latin typeface="Calibri" pitchFamily="34" charset="0"/>
                <a:ea typeface="Calibri" pitchFamily="34" charset="-122"/>
                <a:cs typeface="Calibri" pitchFamily="34" charset="-120"/>
              </a:rPr>
              <a:t>Core Java: </a:t>
            </a:r>
            <a:r>
              <a:rPr lang="en-US" sz="1150" dirty="0">
                <a:solidFill>
                  <a:srgbClr val="000000"/>
                </a:solidFill>
                <a:latin typeface="Calibri" pitchFamily="34" charset="0"/>
                <a:ea typeface="Calibri" pitchFamily="34" charset="-122"/>
                <a:cs typeface="Calibri" pitchFamily="34" charset="-120"/>
              </a:rPr>
              <a:t>Data types, OOP, Collections, Exception Handling, File Handling
</a:t>
            </a:r>
            <a:r>
              <a:rPr lang="en-US" sz="1150" b="1" dirty="0">
                <a:solidFill>
                  <a:srgbClr val="000000"/>
                </a:solidFill>
                <a:latin typeface="Calibri" pitchFamily="34" charset="0"/>
                <a:ea typeface="Calibri" pitchFamily="34" charset="-122"/>
                <a:cs typeface="Calibri" pitchFamily="34" charset="-120"/>
              </a:rPr>
              <a:t>Java 8: </a:t>
            </a:r>
            <a:r>
              <a:rPr lang="en-US" sz="1150" dirty="0">
                <a:solidFill>
                  <a:srgbClr val="000000"/>
                </a:solidFill>
                <a:latin typeface="Calibri" pitchFamily="34" charset="0"/>
                <a:ea typeface="Calibri" pitchFamily="34" charset="-122"/>
                <a:cs typeface="Calibri" pitchFamily="34" charset="-120"/>
              </a:rPr>
              <a:t>Lambda expressions, Stream API, Optional class
</a:t>
            </a:r>
            <a:r>
              <a:rPr lang="en-US" sz="1150" b="1" dirty="0">
                <a:solidFill>
                  <a:srgbClr val="000000"/>
                </a:solidFill>
                <a:latin typeface="Calibri" pitchFamily="34" charset="0"/>
                <a:ea typeface="Calibri" pitchFamily="34" charset="-122"/>
                <a:cs typeface="Calibri" pitchFamily="34" charset="-120"/>
              </a:rPr>
              <a:t>SQL: </a:t>
            </a:r>
            <a:r>
              <a:rPr lang="en-US" sz="1150" dirty="0">
                <a:solidFill>
                  <a:srgbClr val="000000"/>
                </a:solidFill>
                <a:latin typeface="Calibri" pitchFamily="34" charset="0"/>
                <a:ea typeface="Calibri" pitchFamily="34" charset="-122"/>
                <a:cs typeface="Calibri" pitchFamily="34" charset="-120"/>
              </a:rPr>
              <a:t>DDL, DML, Joins, Subqueries, Stored Procedures
</a:t>
            </a:r>
            <a:r>
              <a:rPr lang="en-US" sz="1150" b="1" dirty="0">
                <a:solidFill>
                  <a:srgbClr val="000000"/>
                </a:solidFill>
                <a:latin typeface="Calibri" pitchFamily="34" charset="0"/>
                <a:ea typeface="Calibri" pitchFamily="34" charset="-122"/>
                <a:cs typeface="Calibri" pitchFamily="34" charset="-120"/>
              </a:rPr>
              <a:t>JDBC: </a:t>
            </a:r>
            <a:r>
              <a:rPr lang="en-US" sz="1150" dirty="0">
                <a:solidFill>
                  <a:srgbClr val="000000"/>
                </a:solidFill>
                <a:latin typeface="Calibri" pitchFamily="34" charset="0"/>
                <a:ea typeface="Calibri" pitchFamily="34" charset="-122"/>
                <a:cs typeface="Calibri" pitchFamily="34" charset="-120"/>
              </a:rPr>
              <a:t>Java Database Connectivity, CRUD operations</a:t>
            </a:r>
            <a:endParaRPr lang="en-US" sz="1150" dirty="0"/>
          </a:p>
        </p:txBody>
      </p:sp>
      <p:sp>
        <p:nvSpPr>
          <p:cNvPr id="7" name="Text 5"/>
          <p:cNvSpPr/>
          <p:nvPr/>
        </p:nvSpPr>
        <p:spPr>
          <a:xfrm>
            <a:off x="4754880" y="822960"/>
            <a:ext cx="4114800" cy="347472"/>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Stage 2 – Selenium Automation  (Day 22 – 65)</a:t>
            </a:r>
            <a:endParaRPr lang="en-US" sz="1300" dirty="0"/>
          </a:p>
        </p:txBody>
      </p:sp>
      <p:sp>
        <p:nvSpPr>
          <p:cNvPr id="8" name="Shape 6"/>
          <p:cNvSpPr/>
          <p:nvPr/>
        </p:nvSpPr>
        <p:spPr>
          <a:xfrm>
            <a:off x="4754880" y="1170432"/>
            <a:ext cx="4023360" cy="0"/>
          </a:xfrm>
          <a:prstGeom prst="line">
            <a:avLst/>
          </a:prstGeom>
          <a:noFill/>
          <a:ln w="12700">
            <a:solidFill>
              <a:srgbClr val="DDDDDD"/>
            </a:solidFill>
            <a:prstDash val="solid"/>
          </a:ln>
        </p:spPr>
        <p:txBody>
          <a:bodyPr/>
          <a:lstStyle/>
          <a:p>
            <a:endParaRPr lang="en-IN"/>
          </a:p>
        </p:txBody>
      </p:sp>
      <p:sp>
        <p:nvSpPr>
          <p:cNvPr id="9" name="Text 7"/>
          <p:cNvSpPr/>
          <p:nvPr/>
        </p:nvSpPr>
        <p:spPr>
          <a:xfrm>
            <a:off x="4754880" y="1234440"/>
            <a:ext cx="4023360" cy="1828800"/>
          </a:xfrm>
          <a:prstGeom prst="rect">
            <a:avLst/>
          </a:prstGeom>
          <a:noFill/>
          <a:ln/>
        </p:spPr>
        <p:txBody>
          <a:bodyPr wrap="square" lIns="0" tIns="0" rIns="0" bIns="0" rtlCol="0" anchor="t"/>
          <a:lstStyle/>
          <a:p>
            <a:pPr marL="0" indent="0">
              <a:lnSpc>
                <a:spcPct val="150000"/>
              </a:lnSpc>
              <a:buNone/>
            </a:pPr>
            <a:r>
              <a:rPr lang="en-US" sz="1150" b="1" dirty="0">
                <a:solidFill>
                  <a:srgbClr val="000000"/>
                </a:solidFill>
                <a:latin typeface="Calibri" pitchFamily="34" charset="0"/>
                <a:ea typeface="Calibri" pitchFamily="34" charset="-122"/>
                <a:cs typeface="Calibri" pitchFamily="34" charset="-120"/>
              </a:rPr>
              <a:t>Testing: </a:t>
            </a:r>
            <a:r>
              <a:rPr lang="en-US" sz="1150" dirty="0">
                <a:solidFill>
                  <a:srgbClr val="000000"/>
                </a:solidFill>
                <a:latin typeface="Calibri" pitchFamily="34" charset="0"/>
                <a:ea typeface="Calibri" pitchFamily="34" charset="-122"/>
                <a:cs typeface="Calibri" pitchFamily="34" charset="-120"/>
              </a:rPr>
              <a:t>Agile/Scrum, STLC, Functional/Regression Testing, JIRA
</a:t>
            </a:r>
            <a:r>
              <a:rPr lang="en-US" sz="1150" b="1" dirty="0">
                <a:solidFill>
                  <a:srgbClr val="000000"/>
                </a:solidFill>
                <a:latin typeface="Calibri" pitchFamily="34" charset="0"/>
                <a:ea typeface="Calibri" pitchFamily="34" charset="-122"/>
                <a:cs typeface="Calibri" pitchFamily="34" charset="-120"/>
              </a:rPr>
              <a:t>Selenium: </a:t>
            </a:r>
            <a:r>
              <a:rPr lang="en-US" sz="1150" dirty="0">
                <a:solidFill>
                  <a:srgbClr val="000000"/>
                </a:solidFill>
                <a:latin typeface="Calibri" pitchFamily="34" charset="0"/>
                <a:ea typeface="Calibri" pitchFamily="34" charset="-122"/>
                <a:cs typeface="Calibri" pitchFamily="34" charset="-120"/>
              </a:rPr>
              <a:t>WebDriver, XPath, Actions, Waits, POM, Page Factory
</a:t>
            </a:r>
            <a:r>
              <a:rPr lang="en-US" sz="1150" b="1" dirty="0">
                <a:solidFill>
                  <a:srgbClr val="000000"/>
                </a:solidFill>
                <a:latin typeface="Calibri" pitchFamily="34" charset="0"/>
                <a:ea typeface="Calibri" pitchFamily="34" charset="-122"/>
                <a:cs typeface="Calibri" pitchFamily="34" charset="-120"/>
              </a:rPr>
              <a:t>Frameworks: </a:t>
            </a:r>
            <a:r>
              <a:rPr lang="en-US" sz="1150" dirty="0">
                <a:solidFill>
                  <a:srgbClr val="000000"/>
                </a:solidFill>
                <a:latin typeface="Calibri" pitchFamily="34" charset="0"/>
                <a:ea typeface="Calibri" pitchFamily="34" charset="-122"/>
                <a:cs typeface="Calibri" pitchFamily="34" charset="-120"/>
              </a:rPr>
              <a:t>TestNG, BDD Cucumber, Apache POI, ExtentReports
</a:t>
            </a:r>
            <a:r>
              <a:rPr lang="en-US" sz="1150" b="1" dirty="0">
                <a:solidFill>
                  <a:srgbClr val="000000"/>
                </a:solidFill>
                <a:latin typeface="Calibri" pitchFamily="34" charset="0"/>
                <a:ea typeface="Calibri" pitchFamily="34" charset="-122"/>
                <a:cs typeface="Calibri" pitchFamily="34" charset="-120"/>
              </a:rPr>
              <a:t>DevOps: </a:t>
            </a:r>
            <a:r>
              <a:rPr lang="en-US" sz="1150" dirty="0">
                <a:solidFill>
                  <a:srgbClr val="000000"/>
                </a:solidFill>
                <a:latin typeface="Calibri" pitchFamily="34" charset="0"/>
                <a:ea typeface="Calibri" pitchFamily="34" charset="-122"/>
                <a:cs typeface="Calibri" pitchFamily="34" charset="-120"/>
              </a:rPr>
              <a:t>Git, Maven, Jenkins CI/CD, Selenium Grid, Docker
</a:t>
            </a:r>
            <a:r>
              <a:rPr lang="en-US" sz="1150" b="1" dirty="0">
                <a:solidFill>
                  <a:srgbClr val="000000"/>
                </a:solidFill>
                <a:latin typeface="Calibri" pitchFamily="34" charset="0"/>
                <a:ea typeface="Calibri" pitchFamily="34" charset="-122"/>
                <a:cs typeface="Calibri" pitchFamily="34" charset="-120"/>
              </a:rPr>
              <a:t>API &amp; AI: </a:t>
            </a:r>
            <a:r>
              <a:rPr lang="en-US" sz="1150" dirty="0">
                <a:solidFill>
                  <a:srgbClr val="000000"/>
                </a:solidFill>
                <a:latin typeface="Calibri" pitchFamily="34" charset="0"/>
                <a:ea typeface="Calibri" pitchFamily="34" charset="-122"/>
                <a:cs typeface="Calibri" pitchFamily="34" charset="-120"/>
              </a:rPr>
              <a:t>Postman, REST Assured, GenAI, GitHub Copilot</a:t>
            </a:r>
            <a:endParaRPr lang="en-US" sz="1150" dirty="0"/>
          </a:p>
        </p:txBody>
      </p:sp>
      <p:sp>
        <p:nvSpPr>
          <p:cNvPr id="10" name="Shape 8"/>
          <p:cNvSpPr/>
          <p:nvPr/>
        </p:nvSpPr>
        <p:spPr>
          <a:xfrm>
            <a:off x="365760" y="3154680"/>
            <a:ext cx="8412480" cy="0"/>
          </a:xfrm>
          <a:prstGeom prst="line">
            <a:avLst/>
          </a:prstGeom>
          <a:noFill/>
          <a:ln w="12700">
            <a:solidFill>
              <a:srgbClr val="DDDDDD"/>
            </a:solidFill>
            <a:prstDash val="solid"/>
          </a:ln>
        </p:spPr>
        <p:txBody>
          <a:bodyPr/>
          <a:lstStyle/>
          <a:p>
            <a:endParaRPr lang="en-IN"/>
          </a:p>
        </p:txBody>
      </p:sp>
      <p:sp>
        <p:nvSpPr>
          <p:cNvPr id="11" name="Text 9"/>
          <p:cNvSpPr/>
          <p:nvPr/>
        </p:nvSpPr>
        <p:spPr>
          <a:xfrm>
            <a:off x="365760" y="3218688"/>
            <a:ext cx="2286000" cy="347472"/>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Certifications &amp; Evaluations:</a:t>
            </a:r>
            <a:endParaRPr lang="en-US" sz="1200" dirty="0"/>
          </a:p>
        </p:txBody>
      </p:sp>
      <p:sp>
        <p:nvSpPr>
          <p:cNvPr id="12" name="Text 10"/>
          <p:cNvSpPr/>
          <p:nvPr/>
        </p:nvSpPr>
        <p:spPr>
          <a:xfrm>
            <a:off x="2743200" y="3218688"/>
            <a:ext cx="6035040" cy="347472"/>
          </a:xfrm>
          <a:prstGeom prst="rect">
            <a:avLst/>
          </a:prstGeom>
          <a:noFill/>
          <a:ln/>
        </p:spPr>
        <p:txBody>
          <a:bodyPr wrap="square" lIns="0" tIns="0" rIns="0" bIns="0" rtlCol="0" anchor="ctr"/>
          <a:lstStyle/>
          <a:p>
            <a:pPr marL="0" indent="0">
              <a:buNone/>
            </a:pPr>
            <a:r>
              <a:rPr lang="en-US" sz="1150" dirty="0">
                <a:solidFill>
                  <a:srgbClr val="000000"/>
                </a:solidFill>
                <a:latin typeface="Calibri" pitchFamily="34" charset="0"/>
                <a:ea typeface="Calibri" pitchFamily="34" charset="-122"/>
                <a:cs typeface="Calibri" pitchFamily="34" charset="-120"/>
              </a:rPr>
              <a:t>Stage 1 Assessment  ·  Functional Testing ICT  ·  Selenium ICT  ·  Interim Evaluation (Green)  ·  Final Evaluation (Excellent)  ·  GenAI Fundamentals</a:t>
            </a:r>
            <a:endParaRPr lang="en-US" sz="1150" dirty="0"/>
          </a:p>
        </p:txBody>
      </p:sp>
      <p:sp>
        <p:nvSpPr>
          <p:cNvPr id="13" name="Shape 11"/>
          <p:cNvSpPr/>
          <p:nvPr/>
        </p:nvSpPr>
        <p:spPr>
          <a:xfrm>
            <a:off x="365760" y="3639312"/>
            <a:ext cx="8412480" cy="0"/>
          </a:xfrm>
          <a:prstGeom prst="line">
            <a:avLst/>
          </a:prstGeom>
          <a:noFill/>
          <a:ln w="12700">
            <a:solidFill>
              <a:srgbClr val="DDDDDD"/>
            </a:solidFill>
            <a:prstDash val="solid"/>
          </a:ln>
        </p:spPr>
        <p:txBody>
          <a:bodyPr/>
          <a:lstStyle/>
          <a:p>
            <a:endParaRPr lang="en-IN"/>
          </a:p>
        </p:txBody>
      </p:sp>
      <p:sp>
        <p:nvSpPr>
          <p:cNvPr id="14" name="Text 12"/>
          <p:cNvSpPr/>
          <p:nvPr/>
        </p:nvSpPr>
        <p:spPr>
          <a:xfrm>
            <a:off x="365760" y="3703320"/>
            <a:ext cx="1097280" cy="347472"/>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Key Tools:</a:t>
            </a:r>
            <a:endParaRPr lang="en-US" sz="1200" dirty="0"/>
          </a:p>
        </p:txBody>
      </p:sp>
      <p:sp>
        <p:nvSpPr>
          <p:cNvPr id="15" name="Text 13"/>
          <p:cNvSpPr/>
          <p:nvPr/>
        </p:nvSpPr>
        <p:spPr>
          <a:xfrm>
            <a:off x="1554480" y="3703320"/>
            <a:ext cx="7223760" cy="502920"/>
          </a:xfrm>
          <a:prstGeom prst="rect">
            <a:avLst/>
          </a:prstGeom>
          <a:noFill/>
          <a:ln/>
        </p:spPr>
        <p:txBody>
          <a:bodyPr wrap="square" lIns="0" tIns="0" rIns="0" bIns="0" rtlCol="0" anchor="ctr"/>
          <a:lstStyle/>
          <a:p>
            <a:pPr marL="0" indent="0">
              <a:lnSpc>
                <a:spcPct val="130000"/>
              </a:lnSpc>
              <a:buNone/>
            </a:pPr>
            <a:r>
              <a:rPr lang="en-US" sz="1150" dirty="0">
                <a:solidFill>
                  <a:srgbClr val="000000"/>
                </a:solidFill>
                <a:latin typeface="Calibri" pitchFamily="34" charset="0"/>
                <a:ea typeface="Calibri" pitchFamily="34" charset="-122"/>
                <a:cs typeface="Calibri" pitchFamily="34" charset="-120"/>
              </a:rPr>
              <a:t>Java 17  ·  Selenium WebDriver 4  ·  BDD Cucumber  ·  TestNG  ·  Apache POI  ·  Maven  ·  GitHub  ·  Jenkins  ·  JIRA  ·  Eclipse IDE  ·  Postman  ·  REST Assured  ·  ChromeDriver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lIns="0" tIns="0" rIns="0" bIns="0"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Project Overview</a:t>
            </a:r>
            <a:endParaRPr lang="en-US" sz="2400" dirty="0"/>
          </a:p>
        </p:txBody>
      </p:sp>
      <p:sp>
        <p:nvSpPr>
          <p:cNvPr id="3" name="Shape 1"/>
          <p:cNvSpPr/>
          <p:nvPr/>
        </p:nvSpPr>
        <p:spPr>
          <a:xfrm>
            <a:off x="365760" y="713232"/>
            <a:ext cx="8412480" cy="0"/>
          </a:xfrm>
          <a:prstGeom prst="line">
            <a:avLst/>
          </a:prstGeom>
          <a:noFill/>
          <a:ln w="19050">
            <a:solidFill>
              <a:srgbClr val="000000"/>
            </a:solidFill>
            <a:prstDash val="solid"/>
          </a:ln>
        </p:spPr>
        <p:txBody>
          <a:bodyPr/>
          <a:lstStyle/>
          <a:p>
            <a:endParaRPr lang="en-IN"/>
          </a:p>
        </p:txBody>
      </p:sp>
      <p:sp>
        <p:nvSpPr>
          <p:cNvPr id="4" name="Text 2"/>
          <p:cNvSpPr/>
          <p:nvPr/>
        </p:nvSpPr>
        <p:spPr>
          <a:xfrm>
            <a:off x="365760" y="822960"/>
            <a:ext cx="841248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Project Title: Automation of Coursera Web Application to Identify Courses</a:t>
            </a:r>
            <a:endParaRPr lang="en-US" sz="1400" dirty="0"/>
          </a:p>
        </p:txBody>
      </p:sp>
      <p:sp>
        <p:nvSpPr>
          <p:cNvPr id="5" name="Text 3"/>
          <p:cNvSpPr/>
          <p:nvPr/>
        </p:nvSpPr>
        <p:spPr>
          <a:xfrm>
            <a:off x="365760" y="1261872"/>
            <a:ext cx="8412480" cy="658368"/>
          </a:xfrm>
          <a:prstGeom prst="rect">
            <a:avLst/>
          </a:prstGeom>
          <a:noFill/>
          <a:ln/>
        </p:spPr>
        <p:txBody>
          <a:bodyPr wrap="square" lIns="0" tIns="0" rIns="0" bIns="0" rtlCol="0" anchor="t"/>
          <a:lstStyle/>
          <a:p>
            <a:pPr marL="0" indent="0">
              <a:lnSpc>
                <a:spcPct val="135000"/>
              </a:lnSpc>
              <a:buNone/>
            </a:pPr>
            <a:r>
              <a:rPr lang="en-US" sz="1200" dirty="0">
                <a:solidFill>
                  <a:srgbClr val="000000"/>
                </a:solidFill>
                <a:latin typeface="Calibri" pitchFamily="34" charset="0"/>
                <a:ea typeface="Calibri" pitchFamily="34" charset="-122"/>
                <a:cs typeface="Calibri" pitchFamily="34" charset="-120"/>
              </a:rPr>
              <a:t>This Hackathon project was built using Java, Selenium WebDriver, BDD Cucumber, TestNG, ExtentReports, and GitHub. It follows the Page Object Model (POM) design pattern and automates three real-world user workflows on coursera.org covering search, data extraction, dropdown handling, form interaction, and CI/CD integration.</a:t>
            </a:r>
            <a:endParaRPr lang="en-US" sz="1200" dirty="0"/>
          </a:p>
        </p:txBody>
      </p:sp>
      <p:sp>
        <p:nvSpPr>
          <p:cNvPr id="6" name="Shape 4"/>
          <p:cNvSpPr/>
          <p:nvPr/>
        </p:nvSpPr>
        <p:spPr>
          <a:xfrm>
            <a:off x="365760" y="1993392"/>
            <a:ext cx="8412480" cy="0"/>
          </a:xfrm>
          <a:prstGeom prst="line">
            <a:avLst/>
          </a:prstGeom>
          <a:noFill/>
          <a:ln w="12700">
            <a:solidFill>
              <a:srgbClr val="DDDDDD"/>
            </a:solidFill>
            <a:prstDash val="solid"/>
          </a:ln>
        </p:spPr>
        <p:txBody>
          <a:bodyPr/>
          <a:lstStyle/>
          <a:p>
            <a:endParaRPr lang="en-IN"/>
          </a:p>
        </p:txBody>
      </p:sp>
      <p:sp>
        <p:nvSpPr>
          <p:cNvPr id="7" name="Text 5"/>
          <p:cNvSpPr/>
          <p:nvPr/>
        </p:nvSpPr>
        <p:spPr>
          <a:xfrm>
            <a:off x="365760" y="2084832"/>
            <a:ext cx="2651760" cy="32004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Task 1</a:t>
            </a:r>
            <a:endParaRPr lang="en-US" sz="1200" dirty="0"/>
          </a:p>
        </p:txBody>
      </p:sp>
      <p:sp>
        <p:nvSpPr>
          <p:cNvPr id="8" name="Text 6"/>
          <p:cNvSpPr/>
          <p:nvPr/>
        </p:nvSpPr>
        <p:spPr>
          <a:xfrm>
            <a:off x="365760" y="2404872"/>
            <a:ext cx="2651760" cy="320040"/>
          </a:xfrm>
          <a:prstGeom prst="rect">
            <a:avLst/>
          </a:prstGeom>
          <a:noFill/>
          <a:ln/>
        </p:spPr>
        <p:txBody>
          <a:bodyPr wrap="square" lIns="0" tIns="0" rIns="0" bIns="0" rtlCol="0" anchor="ctr"/>
          <a:lstStyle/>
          <a:p>
            <a:pPr marL="0" indent="0">
              <a:buNone/>
            </a:pPr>
            <a:r>
              <a:rPr lang="en-US" sz="1150" b="1" dirty="0">
                <a:solidFill>
                  <a:srgbClr val="555555"/>
                </a:solidFill>
                <a:latin typeface="Calibri" pitchFamily="34" charset="0"/>
                <a:ea typeface="Calibri" pitchFamily="34" charset="-122"/>
                <a:cs typeface="Calibri" pitchFamily="34" charset="-120"/>
              </a:rPr>
              <a:t>Web Dev Course Search</a:t>
            </a:r>
            <a:endParaRPr lang="en-US" sz="1150" dirty="0"/>
          </a:p>
        </p:txBody>
      </p:sp>
      <p:sp>
        <p:nvSpPr>
          <p:cNvPr id="9" name="Shape 7"/>
          <p:cNvSpPr/>
          <p:nvPr/>
        </p:nvSpPr>
        <p:spPr>
          <a:xfrm>
            <a:off x="365760" y="2724912"/>
            <a:ext cx="2606040" cy="0"/>
          </a:xfrm>
          <a:prstGeom prst="line">
            <a:avLst/>
          </a:prstGeom>
          <a:noFill/>
          <a:ln w="12700">
            <a:solidFill>
              <a:srgbClr val="DDDDDD"/>
            </a:solidFill>
            <a:prstDash val="solid"/>
          </a:ln>
        </p:spPr>
        <p:txBody>
          <a:bodyPr/>
          <a:lstStyle/>
          <a:p>
            <a:endParaRPr lang="en-IN"/>
          </a:p>
        </p:txBody>
      </p:sp>
      <p:sp>
        <p:nvSpPr>
          <p:cNvPr id="10" name="Text 8"/>
          <p:cNvSpPr/>
          <p:nvPr/>
        </p:nvSpPr>
        <p:spPr>
          <a:xfrm>
            <a:off x="365760" y="2788920"/>
            <a:ext cx="2651760" cy="2148840"/>
          </a:xfrm>
          <a:prstGeom prst="rect">
            <a:avLst/>
          </a:prstGeom>
          <a:noFill/>
          <a:ln/>
        </p:spPr>
        <p:txBody>
          <a:bodyPr wrap="square" lIns="0" tIns="0" rIns="0" bIns="0" rtlCol="0" anchor="t"/>
          <a:lstStyle/>
          <a:p>
            <a:pPr marL="0" indent="0">
              <a:lnSpc>
                <a:spcPct val="135000"/>
              </a:lnSpc>
              <a:buNone/>
            </a:pPr>
            <a:r>
              <a:rPr lang="en-US" sz="1150" dirty="0">
                <a:solidFill>
                  <a:srgbClr val="000000"/>
                </a:solidFill>
                <a:latin typeface="Calibri" pitchFamily="34" charset="0"/>
                <a:ea typeface="Calibri" pitchFamily="34" charset="-122"/>
                <a:cs typeface="Calibri" pitchFamily="34" charset="-120"/>
              </a:rPr>
              <a:t>Search for beginner-level Web Development courses offered in English on Coursera. Extract the course name, total learning hours, and rating for the first two results from the search page.</a:t>
            </a:r>
            <a:endParaRPr lang="en-US" sz="1150" dirty="0"/>
          </a:p>
        </p:txBody>
      </p:sp>
      <p:sp>
        <p:nvSpPr>
          <p:cNvPr id="11" name="Text 9"/>
          <p:cNvSpPr/>
          <p:nvPr/>
        </p:nvSpPr>
        <p:spPr>
          <a:xfrm>
            <a:off x="3291840" y="2084832"/>
            <a:ext cx="2651760" cy="32004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Task 2</a:t>
            </a:r>
            <a:endParaRPr lang="en-US" sz="1200" dirty="0"/>
          </a:p>
        </p:txBody>
      </p:sp>
      <p:sp>
        <p:nvSpPr>
          <p:cNvPr id="12" name="Text 10"/>
          <p:cNvSpPr/>
          <p:nvPr/>
        </p:nvSpPr>
        <p:spPr>
          <a:xfrm>
            <a:off x="3291840" y="2404872"/>
            <a:ext cx="2651760" cy="320040"/>
          </a:xfrm>
          <a:prstGeom prst="rect">
            <a:avLst/>
          </a:prstGeom>
          <a:noFill/>
          <a:ln/>
        </p:spPr>
        <p:txBody>
          <a:bodyPr wrap="square" lIns="0" tIns="0" rIns="0" bIns="0" rtlCol="0" anchor="ctr"/>
          <a:lstStyle/>
          <a:p>
            <a:pPr marL="0" indent="0">
              <a:buNone/>
            </a:pPr>
            <a:r>
              <a:rPr lang="en-US" sz="1150" b="1" dirty="0">
                <a:solidFill>
                  <a:srgbClr val="555555"/>
                </a:solidFill>
                <a:latin typeface="Calibri" pitchFamily="34" charset="0"/>
                <a:ea typeface="Calibri" pitchFamily="34" charset="-122"/>
                <a:cs typeface="Calibri" pitchFamily="34" charset="-120"/>
              </a:rPr>
              <a:t>Language Learning Extraction</a:t>
            </a:r>
            <a:endParaRPr lang="en-US" sz="1150" dirty="0"/>
          </a:p>
        </p:txBody>
      </p:sp>
      <p:sp>
        <p:nvSpPr>
          <p:cNvPr id="13" name="Shape 11"/>
          <p:cNvSpPr/>
          <p:nvPr/>
        </p:nvSpPr>
        <p:spPr>
          <a:xfrm>
            <a:off x="3291840" y="2724912"/>
            <a:ext cx="2606040" cy="0"/>
          </a:xfrm>
          <a:prstGeom prst="line">
            <a:avLst/>
          </a:prstGeom>
          <a:noFill/>
          <a:ln w="12700">
            <a:solidFill>
              <a:srgbClr val="DDDDDD"/>
            </a:solidFill>
            <a:prstDash val="solid"/>
          </a:ln>
        </p:spPr>
        <p:txBody>
          <a:bodyPr/>
          <a:lstStyle/>
          <a:p>
            <a:endParaRPr lang="en-IN"/>
          </a:p>
        </p:txBody>
      </p:sp>
      <p:sp>
        <p:nvSpPr>
          <p:cNvPr id="14" name="Text 12"/>
          <p:cNvSpPr/>
          <p:nvPr/>
        </p:nvSpPr>
        <p:spPr>
          <a:xfrm>
            <a:off x="3291840" y="2788920"/>
            <a:ext cx="2651760" cy="2148840"/>
          </a:xfrm>
          <a:prstGeom prst="rect">
            <a:avLst/>
          </a:prstGeom>
          <a:noFill/>
          <a:ln/>
        </p:spPr>
        <p:txBody>
          <a:bodyPr wrap="square" lIns="0" tIns="0" rIns="0" bIns="0" rtlCol="0" anchor="t"/>
          <a:lstStyle/>
          <a:p>
            <a:pPr marL="0" indent="0">
              <a:lnSpc>
                <a:spcPct val="135000"/>
              </a:lnSpc>
              <a:buNone/>
            </a:pPr>
            <a:r>
              <a:rPr lang="en-US" sz="1150" dirty="0">
                <a:solidFill>
                  <a:srgbClr val="000000"/>
                </a:solidFill>
                <a:latin typeface="Calibri" pitchFamily="34" charset="0"/>
                <a:ea typeface="Calibri" pitchFamily="34" charset="-122"/>
                <a:cs typeface="Calibri" pitchFamily="34" charset="-120"/>
              </a:rPr>
              <a:t>Navigate to the Language Learning category. Extract all available languages and their proficiency levels (Beginner / Intermediate / Advanced). Display total course count for each language–level combination.</a:t>
            </a:r>
            <a:endParaRPr lang="en-US" sz="1150" dirty="0"/>
          </a:p>
        </p:txBody>
      </p:sp>
      <p:sp>
        <p:nvSpPr>
          <p:cNvPr id="15" name="Text 13"/>
          <p:cNvSpPr/>
          <p:nvPr/>
        </p:nvSpPr>
        <p:spPr>
          <a:xfrm>
            <a:off x="6217920" y="2084832"/>
            <a:ext cx="2651760" cy="32004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Task 3</a:t>
            </a:r>
            <a:endParaRPr lang="en-US" sz="1200" dirty="0"/>
          </a:p>
        </p:txBody>
      </p:sp>
      <p:sp>
        <p:nvSpPr>
          <p:cNvPr id="16" name="Text 14"/>
          <p:cNvSpPr/>
          <p:nvPr/>
        </p:nvSpPr>
        <p:spPr>
          <a:xfrm>
            <a:off x="6217920" y="2404872"/>
            <a:ext cx="2651760" cy="320040"/>
          </a:xfrm>
          <a:prstGeom prst="rect">
            <a:avLst/>
          </a:prstGeom>
          <a:noFill/>
          <a:ln/>
        </p:spPr>
        <p:txBody>
          <a:bodyPr wrap="square" lIns="0" tIns="0" rIns="0" bIns="0" rtlCol="0" anchor="ctr"/>
          <a:lstStyle/>
          <a:p>
            <a:pPr marL="0" indent="0">
              <a:buNone/>
            </a:pPr>
            <a:r>
              <a:rPr lang="en-US" sz="1150" b="1" dirty="0">
                <a:solidFill>
                  <a:srgbClr val="555555"/>
                </a:solidFill>
                <a:latin typeface="Calibri" pitchFamily="34" charset="0"/>
                <a:ea typeface="Calibri" pitchFamily="34" charset="-122"/>
                <a:cs typeface="Calibri" pitchFamily="34" charset="-120"/>
              </a:rPr>
              <a:t>Form Validation &amp; Error Capture</a:t>
            </a:r>
            <a:endParaRPr lang="en-US" sz="1150" dirty="0"/>
          </a:p>
        </p:txBody>
      </p:sp>
      <p:sp>
        <p:nvSpPr>
          <p:cNvPr id="17" name="Shape 15"/>
          <p:cNvSpPr/>
          <p:nvPr/>
        </p:nvSpPr>
        <p:spPr>
          <a:xfrm>
            <a:off x="6217920" y="2724912"/>
            <a:ext cx="2606040" cy="0"/>
          </a:xfrm>
          <a:prstGeom prst="line">
            <a:avLst/>
          </a:prstGeom>
          <a:noFill/>
          <a:ln w="12700">
            <a:solidFill>
              <a:srgbClr val="DDDDDD"/>
            </a:solidFill>
            <a:prstDash val="solid"/>
          </a:ln>
        </p:spPr>
        <p:txBody>
          <a:bodyPr/>
          <a:lstStyle/>
          <a:p>
            <a:endParaRPr lang="en-IN"/>
          </a:p>
        </p:txBody>
      </p:sp>
      <p:sp>
        <p:nvSpPr>
          <p:cNvPr id="18" name="Text 16"/>
          <p:cNvSpPr/>
          <p:nvPr/>
        </p:nvSpPr>
        <p:spPr>
          <a:xfrm>
            <a:off x="6217920" y="2788920"/>
            <a:ext cx="2651760" cy="2148840"/>
          </a:xfrm>
          <a:prstGeom prst="rect">
            <a:avLst/>
          </a:prstGeom>
          <a:noFill/>
          <a:ln/>
        </p:spPr>
        <p:txBody>
          <a:bodyPr wrap="square" lIns="0" tIns="0" rIns="0" bIns="0" rtlCol="0" anchor="t"/>
          <a:lstStyle/>
          <a:p>
            <a:pPr marL="0" indent="0">
              <a:lnSpc>
                <a:spcPct val="135000"/>
              </a:lnSpc>
              <a:buNone/>
            </a:pPr>
            <a:r>
              <a:rPr lang="en-US" sz="1150" dirty="0">
                <a:solidFill>
                  <a:srgbClr val="000000"/>
                </a:solidFill>
                <a:latin typeface="Calibri" pitchFamily="34" charset="0"/>
                <a:ea typeface="Calibri" pitchFamily="34" charset="-122"/>
                <a:cs typeface="Calibri" pitchFamily="34" charset="-120"/>
              </a:rPr>
              <a:t>Navigate to 'For Enterprise' → Products → 'Courses for Campus'. Fill the 'Ready to Transform' contact form with an intentionally invalid email address and programmatically capture the resulting validation error message.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lIns="0" tIns="0" rIns="0" bIns="0"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Automation Tasks – Steps &amp; Techniques</a:t>
            </a:r>
            <a:endParaRPr lang="en-US" sz="2400" dirty="0"/>
          </a:p>
        </p:txBody>
      </p:sp>
      <p:sp>
        <p:nvSpPr>
          <p:cNvPr id="3" name="Shape 1"/>
          <p:cNvSpPr/>
          <p:nvPr/>
        </p:nvSpPr>
        <p:spPr>
          <a:xfrm>
            <a:off x="365760" y="713232"/>
            <a:ext cx="8412480" cy="0"/>
          </a:xfrm>
          <a:prstGeom prst="line">
            <a:avLst/>
          </a:prstGeom>
          <a:noFill/>
          <a:ln w="19050">
            <a:solidFill>
              <a:srgbClr val="000000"/>
            </a:solidFill>
            <a:prstDash val="solid"/>
          </a:ln>
        </p:spPr>
        <p:txBody>
          <a:bodyPr/>
          <a:lstStyle/>
          <a:p>
            <a:endParaRPr lang="en-IN"/>
          </a:p>
        </p:txBody>
      </p:sp>
      <p:sp>
        <p:nvSpPr>
          <p:cNvPr id="4" name="Text 2"/>
          <p:cNvSpPr/>
          <p:nvPr/>
        </p:nvSpPr>
        <p:spPr>
          <a:xfrm>
            <a:off x="365760" y="822960"/>
            <a:ext cx="2651760" cy="384048"/>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Task 1 – Web Dev Course Search</a:t>
            </a:r>
            <a:endParaRPr lang="en-US" sz="1200" dirty="0"/>
          </a:p>
        </p:txBody>
      </p:sp>
      <p:sp>
        <p:nvSpPr>
          <p:cNvPr id="5" name="Shape 3"/>
          <p:cNvSpPr/>
          <p:nvPr/>
        </p:nvSpPr>
        <p:spPr>
          <a:xfrm>
            <a:off x="365760" y="1207008"/>
            <a:ext cx="2606040" cy="0"/>
          </a:xfrm>
          <a:prstGeom prst="line">
            <a:avLst/>
          </a:prstGeom>
          <a:noFill/>
          <a:ln w="12700">
            <a:solidFill>
              <a:srgbClr val="DDDDDD"/>
            </a:solidFill>
            <a:prstDash val="solid"/>
          </a:ln>
        </p:spPr>
        <p:txBody>
          <a:bodyPr/>
          <a:lstStyle/>
          <a:p>
            <a:endParaRPr lang="en-IN"/>
          </a:p>
        </p:txBody>
      </p:sp>
      <p:sp>
        <p:nvSpPr>
          <p:cNvPr id="6" name="Text 4"/>
          <p:cNvSpPr/>
          <p:nvPr/>
        </p:nvSpPr>
        <p:spPr>
          <a:xfrm>
            <a:off x="365760" y="129844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1.  Launch browser and navigate to coursera.org</a:t>
            </a:r>
            <a:endParaRPr lang="en-US" sz="1150" dirty="0"/>
          </a:p>
        </p:txBody>
      </p:sp>
      <p:sp>
        <p:nvSpPr>
          <p:cNvPr id="7" name="Text 5"/>
          <p:cNvSpPr/>
          <p:nvPr/>
        </p:nvSpPr>
        <p:spPr>
          <a:xfrm>
            <a:off x="365760" y="189280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2.  Enter 'Web Development' in the search bar</a:t>
            </a:r>
            <a:endParaRPr lang="en-US" sz="1150" dirty="0"/>
          </a:p>
        </p:txBody>
      </p:sp>
      <p:sp>
        <p:nvSpPr>
          <p:cNvPr id="8" name="Text 6"/>
          <p:cNvSpPr/>
          <p:nvPr/>
        </p:nvSpPr>
        <p:spPr>
          <a:xfrm>
            <a:off x="365760" y="248716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3.  Apply 'Beginner' level and 'English' language filters</a:t>
            </a:r>
            <a:endParaRPr lang="en-US" sz="1150" dirty="0"/>
          </a:p>
        </p:txBody>
      </p:sp>
      <p:sp>
        <p:nvSpPr>
          <p:cNvPr id="9" name="Text 7"/>
          <p:cNvSpPr/>
          <p:nvPr/>
        </p:nvSpPr>
        <p:spPr>
          <a:xfrm>
            <a:off x="365760" y="308152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4.  Scroll page using JavascriptExecutor</a:t>
            </a:r>
            <a:endParaRPr lang="en-US" sz="1150" dirty="0"/>
          </a:p>
        </p:txBody>
      </p:sp>
      <p:sp>
        <p:nvSpPr>
          <p:cNvPr id="10" name="Text 8"/>
          <p:cNvSpPr/>
          <p:nvPr/>
        </p:nvSpPr>
        <p:spPr>
          <a:xfrm>
            <a:off x="365760" y="367588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5.  Extract course name, hours &amp; rating for top 2 results</a:t>
            </a:r>
            <a:endParaRPr lang="en-US" sz="1150" dirty="0"/>
          </a:p>
        </p:txBody>
      </p:sp>
      <p:sp>
        <p:nvSpPr>
          <p:cNvPr id="11" name="Text 9"/>
          <p:cNvSpPr/>
          <p:nvPr/>
        </p:nvSpPr>
        <p:spPr>
          <a:xfrm>
            <a:off x="365760" y="427024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6.  Store data in ArrayList and log to ExtentReport</a:t>
            </a:r>
            <a:endParaRPr lang="en-US" sz="1150" dirty="0"/>
          </a:p>
        </p:txBody>
      </p:sp>
      <p:sp>
        <p:nvSpPr>
          <p:cNvPr id="12" name="Text 10"/>
          <p:cNvSpPr/>
          <p:nvPr/>
        </p:nvSpPr>
        <p:spPr>
          <a:xfrm>
            <a:off x="3291840" y="822960"/>
            <a:ext cx="2651760" cy="384048"/>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Task 2 – Language Learning Extraction</a:t>
            </a:r>
            <a:endParaRPr lang="en-US" sz="1200" dirty="0"/>
          </a:p>
        </p:txBody>
      </p:sp>
      <p:sp>
        <p:nvSpPr>
          <p:cNvPr id="13" name="Shape 11"/>
          <p:cNvSpPr/>
          <p:nvPr/>
        </p:nvSpPr>
        <p:spPr>
          <a:xfrm>
            <a:off x="3291840" y="1207008"/>
            <a:ext cx="2606040" cy="0"/>
          </a:xfrm>
          <a:prstGeom prst="line">
            <a:avLst/>
          </a:prstGeom>
          <a:noFill/>
          <a:ln w="12700">
            <a:solidFill>
              <a:srgbClr val="DDDDDD"/>
            </a:solidFill>
            <a:prstDash val="solid"/>
          </a:ln>
        </p:spPr>
        <p:txBody>
          <a:bodyPr/>
          <a:lstStyle/>
          <a:p>
            <a:endParaRPr lang="en-IN"/>
          </a:p>
        </p:txBody>
      </p:sp>
      <p:sp>
        <p:nvSpPr>
          <p:cNvPr id="14" name="Text 12"/>
          <p:cNvSpPr/>
          <p:nvPr/>
        </p:nvSpPr>
        <p:spPr>
          <a:xfrm>
            <a:off x="3291840" y="129844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1.  Access Language Learning category from subject catalog</a:t>
            </a:r>
            <a:endParaRPr lang="en-US" sz="1150" dirty="0"/>
          </a:p>
        </p:txBody>
      </p:sp>
      <p:sp>
        <p:nvSpPr>
          <p:cNvPr id="15" name="Text 13"/>
          <p:cNvSpPr/>
          <p:nvPr/>
        </p:nvSpPr>
        <p:spPr>
          <a:xfrm>
            <a:off x="3291840" y="189280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2.  Extract all language options using findElements()</a:t>
            </a:r>
            <a:endParaRPr lang="en-US" sz="1150" dirty="0"/>
          </a:p>
        </p:txBody>
      </p:sp>
      <p:sp>
        <p:nvSpPr>
          <p:cNvPr id="16" name="Text 14"/>
          <p:cNvSpPr/>
          <p:nvPr/>
        </p:nvSpPr>
        <p:spPr>
          <a:xfrm>
            <a:off x="3291840" y="248716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3.  Scroll filter panel using JavascriptExecutor</a:t>
            </a:r>
            <a:endParaRPr lang="en-US" sz="1150" dirty="0"/>
          </a:p>
        </p:txBody>
      </p:sp>
      <p:sp>
        <p:nvSpPr>
          <p:cNvPr id="17" name="Text 15"/>
          <p:cNvSpPr/>
          <p:nvPr/>
        </p:nvSpPr>
        <p:spPr>
          <a:xfrm>
            <a:off x="3291840" y="308152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4.  Capture proficiency levels per language</a:t>
            </a:r>
            <a:endParaRPr lang="en-US" sz="1150" dirty="0"/>
          </a:p>
        </p:txBody>
      </p:sp>
      <p:sp>
        <p:nvSpPr>
          <p:cNvPr id="18" name="Text 16"/>
          <p:cNvSpPr/>
          <p:nvPr/>
        </p:nvSpPr>
        <p:spPr>
          <a:xfrm>
            <a:off x="3291840" y="367588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5.  Store in HashMap&lt;String, ArrayList&gt; structure</a:t>
            </a:r>
            <a:endParaRPr lang="en-US" sz="1150" dirty="0"/>
          </a:p>
        </p:txBody>
      </p:sp>
      <p:sp>
        <p:nvSpPr>
          <p:cNvPr id="19" name="Text 17"/>
          <p:cNvSpPr/>
          <p:nvPr/>
        </p:nvSpPr>
        <p:spPr>
          <a:xfrm>
            <a:off x="3291840" y="427024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6.  Display formatted output and log report</a:t>
            </a:r>
            <a:endParaRPr lang="en-US" sz="1150" dirty="0"/>
          </a:p>
        </p:txBody>
      </p:sp>
      <p:sp>
        <p:nvSpPr>
          <p:cNvPr id="20" name="Text 18"/>
          <p:cNvSpPr/>
          <p:nvPr/>
        </p:nvSpPr>
        <p:spPr>
          <a:xfrm>
            <a:off x="6217920" y="822960"/>
            <a:ext cx="2651760" cy="384048"/>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Task 3 – Form Validation &amp; Error Capture</a:t>
            </a:r>
            <a:endParaRPr lang="en-US" sz="1200" dirty="0"/>
          </a:p>
        </p:txBody>
      </p:sp>
      <p:sp>
        <p:nvSpPr>
          <p:cNvPr id="21" name="Shape 19"/>
          <p:cNvSpPr/>
          <p:nvPr/>
        </p:nvSpPr>
        <p:spPr>
          <a:xfrm>
            <a:off x="6217920" y="1207008"/>
            <a:ext cx="2606040" cy="0"/>
          </a:xfrm>
          <a:prstGeom prst="line">
            <a:avLst/>
          </a:prstGeom>
          <a:noFill/>
          <a:ln w="12700">
            <a:solidFill>
              <a:srgbClr val="DDDDDD"/>
            </a:solidFill>
            <a:prstDash val="solid"/>
          </a:ln>
        </p:spPr>
        <p:txBody>
          <a:bodyPr/>
          <a:lstStyle/>
          <a:p>
            <a:endParaRPr lang="en-IN"/>
          </a:p>
        </p:txBody>
      </p:sp>
      <p:sp>
        <p:nvSpPr>
          <p:cNvPr id="22" name="Text 20"/>
          <p:cNvSpPr/>
          <p:nvPr/>
        </p:nvSpPr>
        <p:spPr>
          <a:xfrm>
            <a:off x="6217920" y="129844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1.  Navigate: For Enterprise → Products → Courses for Campus</a:t>
            </a:r>
            <a:endParaRPr lang="en-US" sz="1150" dirty="0"/>
          </a:p>
        </p:txBody>
      </p:sp>
      <p:sp>
        <p:nvSpPr>
          <p:cNvPr id="23" name="Text 21"/>
          <p:cNvSpPr/>
          <p:nvPr/>
        </p:nvSpPr>
        <p:spPr>
          <a:xfrm>
            <a:off x="6217920" y="189280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2.  Scroll to 'Ready to Transform' contact form</a:t>
            </a:r>
            <a:endParaRPr lang="en-US" sz="1150" dirty="0"/>
          </a:p>
        </p:txBody>
      </p:sp>
      <p:sp>
        <p:nvSpPr>
          <p:cNvPr id="24" name="Text 22"/>
          <p:cNvSpPr/>
          <p:nvPr/>
        </p:nvSpPr>
        <p:spPr>
          <a:xfrm>
            <a:off x="6217920" y="248716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3.  Fill Name, Last Name, Organization with valid data</a:t>
            </a:r>
            <a:endParaRPr lang="en-US" sz="1150" dirty="0"/>
          </a:p>
        </p:txBody>
      </p:sp>
      <p:sp>
        <p:nvSpPr>
          <p:cNvPr id="25" name="Text 23"/>
          <p:cNvSpPr/>
          <p:nvPr/>
        </p:nvSpPr>
        <p:spPr>
          <a:xfrm>
            <a:off x="6217920" y="308152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4.  Enter invalid email (e.g. testuser@) intentionally</a:t>
            </a:r>
            <a:endParaRPr lang="en-US" sz="1150" dirty="0"/>
          </a:p>
        </p:txBody>
      </p:sp>
      <p:sp>
        <p:nvSpPr>
          <p:cNvPr id="26" name="Text 24"/>
          <p:cNvSpPr/>
          <p:nvPr/>
        </p:nvSpPr>
        <p:spPr>
          <a:xfrm>
            <a:off x="6217920" y="367588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5.  Click Submit and wait for DOM error element</a:t>
            </a:r>
            <a:endParaRPr lang="en-US" sz="1150" dirty="0"/>
          </a:p>
        </p:txBody>
      </p:sp>
      <p:sp>
        <p:nvSpPr>
          <p:cNvPr id="27" name="Text 25"/>
          <p:cNvSpPr/>
          <p:nvPr/>
        </p:nvSpPr>
        <p:spPr>
          <a:xfrm>
            <a:off x="6217920" y="4270248"/>
            <a:ext cx="2651760" cy="530352"/>
          </a:xfrm>
          <a:prstGeom prst="rect">
            <a:avLst/>
          </a:prstGeom>
          <a:noFill/>
          <a:ln/>
        </p:spPr>
        <p:txBody>
          <a:bodyPr wrap="square" lIns="0" tIns="0" rIns="0" bIns="0" rtlCol="0" anchor="t"/>
          <a:lstStyle/>
          <a:p>
            <a:pPr marL="0" indent="0">
              <a:lnSpc>
                <a:spcPct val="125000"/>
              </a:lnSpc>
              <a:buNone/>
            </a:pPr>
            <a:r>
              <a:rPr lang="en-US" sz="1150" dirty="0">
                <a:solidFill>
                  <a:srgbClr val="000000"/>
                </a:solidFill>
                <a:latin typeface="Calibri" pitchFamily="34" charset="0"/>
                <a:ea typeface="Calibri" pitchFamily="34" charset="-122"/>
                <a:cs typeface="Calibri" pitchFamily="34" charset="-120"/>
              </a:rPr>
              <a:t>6.  Capture error text via getText() and log it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lIns="0" tIns="0" rIns="0" bIns="0"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Framework Architecture</a:t>
            </a:r>
            <a:endParaRPr lang="en-US" sz="2400" dirty="0"/>
          </a:p>
        </p:txBody>
      </p:sp>
      <p:sp>
        <p:nvSpPr>
          <p:cNvPr id="3" name="Shape 1"/>
          <p:cNvSpPr/>
          <p:nvPr/>
        </p:nvSpPr>
        <p:spPr>
          <a:xfrm>
            <a:off x="365760" y="713232"/>
            <a:ext cx="8412480" cy="0"/>
          </a:xfrm>
          <a:prstGeom prst="line">
            <a:avLst/>
          </a:prstGeom>
          <a:noFill/>
          <a:ln w="19050">
            <a:solidFill>
              <a:srgbClr val="000000"/>
            </a:solidFill>
            <a:prstDash val="solid"/>
          </a:ln>
        </p:spPr>
        <p:txBody>
          <a:bodyPr/>
          <a:lstStyle/>
          <a:p>
            <a:endParaRPr lang="en-IN"/>
          </a:p>
        </p:txBody>
      </p:sp>
      <p:sp>
        <p:nvSpPr>
          <p:cNvPr id="4" name="Shape 2"/>
          <p:cNvSpPr/>
          <p:nvPr/>
        </p:nvSpPr>
        <p:spPr>
          <a:xfrm>
            <a:off x="365760" y="914400"/>
            <a:ext cx="2606040" cy="1188720"/>
          </a:xfrm>
          <a:prstGeom prst="rect">
            <a:avLst/>
          </a:prstGeom>
          <a:solidFill>
            <a:srgbClr val="FFFFFF"/>
          </a:solidFill>
          <a:ln w="15240">
            <a:solidFill>
              <a:srgbClr val="000000"/>
            </a:solidFill>
            <a:prstDash val="solid"/>
          </a:ln>
        </p:spPr>
        <p:txBody>
          <a:bodyPr/>
          <a:lstStyle/>
          <a:p>
            <a:endParaRPr lang="en-IN"/>
          </a:p>
        </p:txBody>
      </p:sp>
      <p:sp>
        <p:nvSpPr>
          <p:cNvPr id="5" name="Text 3"/>
          <p:cNvSpPr/>
          <p:nvPr/>
        </p:nvSpPr>
        <p:spPr>
          <a:xfrm>
            <a:off x="365760" y="914400"/>
            <a:ext cx="2606040" cy="1188720"/>
          </a:xfrm>
          <a:prstGeom prst="rect">
            <a:avLst/>
          </a:prstGeom>
          <a:noFill/>
          <a:ln/>
        </p:spPr>
        <p:txBody>
          <a:bodyPr wrap="square" lIns="0" tIns="0" rIns="0" bIns="0"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Test Layer</a:t>
            </a:r>
            <a:endParaRPr lang="en-US" sz="1200" dirty="0"/>
          </a:p>
          <a:p>
            <a:pPr marL="0" indent="0" algn="ctr">
              <a:buNone/>
            </a:pPr>
            <a:r>
              <a:rPr lang="en-US" sz="1200" b="1" dirty="0">
                <a:solidFill>
                  <a:srgbClr val="000000"/>
                </a:solidFill>
                <a:latin typeface="Calibri" pitchFamily="34" charset="0"/>
                <a:ea typeface="Calibri" pitchFamily="34" charset="-122"/>
                <a:cs typeface="Calibri" pitchFamily="34" charset="-120"/>
              </a:rPr>
              <a:t>(BDD Cucumber Feature Files)</a:t>
            </a:r>
            <a:endParaRPr lang="en-US" sz="1200" dirty="0"/>
          </a:p>
        </p:txBody>
      </p:sp>
      <p:sp>
        <p:nvSpPr>
          <p:cNvPr id="6" name="Shape 4"/>
          <p:cNvSpPr/>
          <p:nvPr/>
        </p:nvSpPr>
        <p:spPr>
          <a:xfrm>
            <a:off x="3246120" y="914400"/>
            <a:ext cx="2606040" cy="1188720"/>
          </a:xfrm>
          <a:prstGeom prst="rect">
            <a:avLst/>
          </a:prstGeom>
          <a:solidFill>
            <a:srgbClr val="FFFFFF"/>
          </a:solidFill>
          <a:ln w="15240">
            <a:solidFill>
              <a:srgbClr val="000000"/>
            </a:solidFill>
            <a:prstDash val="solid"/>
          </a:ln>
        </p:spPr>
        <p:txBody>
          <a:bodyPr/>
          <a:lstStyle/>
          <a:p>
            <a:endParaRPr lang="en-IN"/>
          </a:p>
        </p:txBody>
      </p:sp>
      <p:sp>
        <p:nvSpPr>
          <p:cNvPr id="7" name="Text 5"/>
          <p:cNvSpPr/>
          <p:nvPr/>
        </p:nvSpPr>
        <p:spPr>
          <a:xfrm>
            <a:off x="3246120" y="914400"/>
            <a:ext cx="2606040" cy="1188720"/>
          </a:xfrm>
          <a:prstGeom prst="rect">
            <a:avLst/>
          </a:prstGeom>
          <a:noFill/>
          <a:ln/>
        </p:spPr>
        <p:txBody>
          <a:bodyPr wrap="square" lIns="0" tIns="0" rIns="0" bIns="0"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Step Definitions &amp; Runners</a:t>
            </a:r>
            <a:endParaRPr lang="en-US" sz="1200" dirty="0"/>
          </a:p>
          <a:p>
            <a:pPr marL="0" indent="0" algn="ctr">
              <a:buNone/>
            </a:pPr>
            <a:r>
              <a:rPr lang="en-US" sz="1200" b="1" dirty="0">
                <a:solidFill>
                  <a:srgbClr val="000000"/>
                </a:solidFill>
                <a:latin typeface="Calibri" pitchFamily="34" charset="0"/>
                <a:ea typeface="Calibri" pitchFamily="34" charset="-122"/>
                <a:cs typeface="Calibri" pitchFamily="34" charset="-120"/>
              </a:rPr>
              <a:t>(TestNG)</a:t>
            </a:r>
            <a:endParaRPr lang="en-US" sz="1200" dirty="0"/>
          </a:p>
        </p:txBody>
      </p:sp>
      <p:sp>
        <p:nvSpPr>
          <p:cNvPr id="8" name="Shape 6"/>
          <p:cNvSpPr/>
          <p:nvPr/>
        </p:nvSpPr>
        <p:spPr>
          <a:xfrm>
            <a:off x="6126480" y="914400"/>
            <a:ext cx="2606040" cy="1188720"/>
          </a:xfrm>
          <a:prstGeom prst="rect">
            <a:avLst/>
          </a:prstGeom>
          <a:solidFill>
            <a:srgbClr val="FFFFFF"/>
          </a:solidFill>
          <a:ln w="15240">
            <a:solidFill>
              <a:srgbClr val="000000"/>
            </a:solidFill>
            <a:prstDash val="solid"/>
          </a:ln>
        </p:spPr>
        <p:txBody>
          <a:bodyPr/>
          <a:lstStyle/>
          <a:p>
            <a:endParaRPr lang="en-IN"/>
          </a:p>
        </p:txBody>
      </p:sp>
      <p:sp>
        <p:nvSpPr>
          <p:cNvPr id="9" name="Text 7"/>
          <p:cNvSpPr/>
          <p:nvPr/>
        </p:nvSpPr>
        <p:spPr>
          <a:xfrm>
            <a:off x="6126480" y="914400"/>
            <a:ext cx="2606040" cy="1188720"/>
          </a:xfrm>
          <a:prstGeom prst="rect">
            <a:avLst/>
          </a:prstGeom>
          <a:noFill/>
          <a:ln/>
        </p:spPr>
        <p:txBody>
          <a:bodyPr wrap="square" lIns="0" tIns="0" rIns="0" bIns="0"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Page Objects</a:t>
            </a:r>
            <a:endParaRPr lang="en-US" sz="1200" dirty="0"/>
          </a:p>
          <a:p>
            <a:pPr marL="0" indent="0" algn="ctr">
              <a:buNone/>
            </a:pPr>
            <a:r>
              <a:rPr lang="en-US" sz="1200" b="1" dirty="0">
                <a:solidFill>
                  <a:srgbClr val="000000"/>
                </a:solidFill>
                <a:latin typeface="Calibri" pitchFamily="34" charset="0"/>
                <a:ea typeface="Calibri" pitchFamily="34" charset="-122"/>
                <a:cs typeface="Calibri" pitchFamily="34" charset="-120"/>
              </a:rPr>
              <a:t>(POM / Page Factory)</a:t>
            </a:r>
            <a:endParaRPr lang="en-US" sz="1200" dirty="0"/>
          </a:p>
        </p:txBody>
      </p:sp>
      <p:sp>
        <p:nvSpPr>
          <p:cNvPr id="10" name="Shape 8"/>
          <p:cNvSpPr/>
          <p:nvPr/>
        </p:nvSpPr>
        <p:spPr>
          <a:xfrm>
            <a:off x="365760" y="2423160"/>
            <a:ext cx="2606040" cy="1188720"/>
          </a:xfrm>
          <a:prstGeom prst="rect">
            <a:avLst/>
          </a:prstGeom>
          <a:solidFill>
            <a:srgbClr val="FFFFFF"/>
          </a:solidFill>
          <a:ln w="15240">
            <a:solidFill>
              <a:srgbClr val="000000"/>
            </a:solidFill>
            <a:prstDash val="solid"/>
          </a:ln>
        </p:spPr>
        <p:txBody>
          <a:bodyPr/>
          <a:lstStyle/>
          <a:p>
            <a:endParaRPr lang="en-IN"/>
          </a:p>
        </p:txBody>
      </p:sp>
      <p:sp>
        <p:nvSpPr>
          <p:cNvPr id="11" name="Text 9"/>
          <p:cNvSpPr/>
          <p:nvPr/>
        </p:nvSpPr>
        <p:spPr>
          <a:xfrm>
            <a:off x="365760" y="2423160"/>
            <a:ext cx="2606040" cy="1188720"/>
          </a:xfrm>
          <a:prstGeom prst="rect">
            <a:avLst/>
          </a:prstGeom>
          <a:noFill/>
          <a:ln/>
        </p:spPr>
        <p:txBody>
          <a:bodyPr wrap="square" lIns="0" tIns="0" rIns="0" bIns="0"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Selenium WebDriver</a:t>
            </a:r>
            <a:endParaRPr lang="en-US" sz="1200" dirty="0"/>
          </a:p>
          <a:p>
            <a:pPr marL="0" indent="0" algn="ctr">
              <a:buNone/>
            </a:pPr>
            <a:r>
              <a:rPr lang="en-US" sz="1200" b="1" dirty="0">
                <a:solidFill>
                  <a:srgbClr val="000000"/>
                </a:solidFill>
                <a:latin typeface="Calibri" pitchFamily="34" charset="0"/>
                <a:ea typeface="Calibri" pitchFamily="34" charset="-122"/>
                <a:cs typeface="Calibri" pitchFamily="34" charset="-120"/>
              </a:rPr>
              <a:t>+ ChromeDriver</a:t>
            </a:r>
            <a:endParaRPr lang="en-US" sz="1200" dirty="0"/>
          </a:p>
        </p:txBody>
      </p:sp>
      <p:sp>
        <p:nvSpPr>
          <p:cNvPr id="12" name="Shape 10"/>
          <p:cNvSpPr/>
          <p:nvPr/>
        </p:nvSpPr>
        <p:spPr>
          <a:xfrm>
            <a:off x="3246120" y="2423160"/>
            <a:ext cx="2606040" cy="1188720"/>
          </a:xfrm>
          <a:prstGeom prst="rect">
            <a:avLst/>
          </a:prstGeom>
          <a:solidFill>
            <a:srgbClr val="FFFFFF"/>
          </a:solidFill>
          <a:ln w="15240">
            <a:solidFill>
              <a:srgbClr val="000000"/>
            </a:solidFill>
            <a:prstDash val="solid"/>
          </a:ln>
        </p:spPr>
        <p:txBody>
          <a:bodyPr/>
          <a:lstStyle/>
          <a:p>
            <a:endParaRPr lang="en-IN"/>
          </a:p>
        </p:txBody>
      </p:sp>
      <p:sp>
        <p:nvSpPr>
          <p:cNvPr id="13" name="Text 11"/>
          <p:cNvSpPr/>
          <p:nvPr/>
        </p:nvSpPr>
        <p:spPr>
          <a:xfrm>
            <a:off x="3246120" y="2423160"/>
            <a:ext cx="2606040" cy="1188720"/>
          </a:xfrm>
          <a:prstGeom prst="rect">
            <a:avLst/>
          </a:prstGeom>
          <a:noFill/>
          <a:ln/>
        </p:spPr>
        <p:txBody>
          <a:bodyPr wrap="square" lIns="0" tIns="0" rIns="0" bIns="0"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Test Data</a:t>
            </a:r>
            <a:endParaRPr lang="en-US" sz="1200" dirty="0"/>
          </a:p>
          <a:p>
            <a:pPr marL="0" indent="0" algn="ctr">
              <a:buNone/>
            </a:pPr>
            <a:r>
              <a:rPr lang="en-US" sz="1200" b="1" dirty="0">
                <a:solidFill>
                  <a:srgbClr val="000000"/>
                </a:solidFill>
                <a:latin typeface="Calibri" pitchFamily="34" charset="0"/>
                <a:ea typeface="Calibri" pitchFamily="34" charset="-122"/>
                <a:cs typeface="Calibri" pitchFamily="34" charset="-120"/>
              </a:rPr>
              <a:t>(Apache POI / Excel)</a:t>
            </a:r>
            <a:endParaRPr lang="en-US" sz="1200" dirty="0"/>
          </a:p>
        </p:txBody>
      </p:sp>
      <p:sp>
        <p:nvSpPr>
          <p:cNvPr id="14" name="Shape 12"/>
          <p:cNvSpPr/>
          <p:nvPr/>
        </p:nvSpPr>
        <p:spPr>
          <a:xfrm>
            <a:off x="6126480" y="2423160"/>
            <a:ext cx="2606040" cy="1188720"/>
          </a:xfrm>
          <a:prstGeom prst="rect">
            <a:avLst/>
          </a:prstGeom>
          <a:solidFill>
            <a:srgbClr val="FFFFFF"/>
          </a:solidFill>
          <a:ln w="15240">
            <a:solidFill>
              <a:srgbClr val="000000"/>
            </a:solidFill>
            <a:prstDash val="solid"/>
          </a:ln>
        </p:spPr>
        <p:txBody>
          <a:bodyPr/>
          <a:lstStyle/>
          <a:p>
            <a:endParaRPr lang="en-IN"/>
          </a:p>
        </p:txBody>
      </p:sp>
      <p:sp>
        <p:nvSpPr>
          <p:cNvPr id="15" name="Text 13"/>
          <p:cNvSpPr/>
          <p:nvPr/>
        </p:nvSpPr>
        <p:spPr>
          <a:xfrm>
            <a:off x="6126480" y="2423160"/>
            <a:ext cx="2606040" cy="1188720"/>
          </a:xfrm>
          <a:prstGeom prst="rect">
            <a:avLst/>
          </a:prstGeom>
          <a:noFill/>
          <a:ln/>
        </p:spPr>
        <p:txBody>
          <a:bodyPr wrap="square" lIns="0" tIns="0" rIns="0" bIns="0"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Reporting</a:t>
            </a:r>
            <a:endParaRPr lang="en-US" sz="1200" dirty="0"/>
          </a:p>
          <a:p>
            <a:pPr marL="0" indent="0" algn="ctr">
              <a:buNone/>
            </a:pPr>
            <a:r>
              <a:rPr lang="en-US" sz="1200" b="1" dirty="0">
                <a:solidFill>
                  <a:srgbClr val="000000"/>
                </a:solidFill>
                <a:latin typeface="Calibri" pitchFamily="34" charset="0"/>
                <a:ea typeface="Calibri" pitchFamily="34" charset="-122"/>
                <a:cs typeface="Calibri" pitchFamily="34" charset="-120"/>
              </a:rPr>
              <a:t>(ExtentReports)</a:t>
            </a:r>
            <a:endParaRPr lang="en-US" sz="1200" dirty="0"/>
          </a:p>
        </p:txBody>
      </p:sp>
      <p:sp>
        <p:nvSpPr>
          <p:cNvPr id="16" name="Text 14"/>
          <p:cNvSpPr/>
          <p:nvPr/>
        </p:nvSpPr>
        <p:spPr>
          <a:xfrm>
            <a:off x="4297680" y="2148840"/>
            <a:ext cx="548640" cy="274320"/>
          </a:xfrm>
          <a:prstGeom prst="rect">
            <a:avLst/>
          </a:prstGeom>
          <a:noFill/>
          <a:ln/>
        </p:spPr>
        <p:txBody>
          <a:bodyPr wrap="square" lIns="0" tIns="0" rIns="0" bIns="0" rtlCol="0" anchor="ctr"/>
          <a:lstStyle/>
          <a:p>
            <a:pPr marL="0" indent="0" algn="ctr">
              <a:buNone/>
            </a:pPr>
            <a:r>
              <a:rPr lang="en-US" sz="1600" b="1" dirty="0">
                <a:solidFill>
                  <a:srgbClr val="000000"/>
                </a:solidFill>
              </a:rPr>
              <a:t>↓</a:t>
            </a:r>
            <a:endParaRPr lang="en-US" sz="1600" dirty="0"/>
          </a:p>
        </p:txBody>
      </p:sp>
      <p:sp>
        <p:nvSpPr>
          <p:cNvPr id="17" name="Shape 15"/>
          <p:cNvSpPr/>
          <p:nvPr/>
        </p:nvSpPr>
        <p:spPr>
          <a:xfrm>
            <a:off x="365760" y="3749040"/>
            <a:ext cx="8412480" cy="0"/>
          </a:xfrm>
          <a:prstGeom prst="line">
            <a:avLst/>
          </a:prstGeom>
          <a:noFill/>
          <a:ln w="12700">
            <a:solidFill>
              <a:srgbClr val="DDDDDD"/>
            </a:solidFill>
            <a:prstDash val="solid"/>
          </a:ln>
        </p:spPr>
        <p:txBody>
          <a:bodyPr/>
          <a:lstStyle/>
          <a:p>
            <a:endParaRPr lang="en-IN"/>
          </a:p>
        </p:txBody>
      </p:sp>
      <p:sp>
        <p:nvSpPr>
          <p:cNvPr id="18" name="Text 16"/>
          <p:cNvSpPr/>
          <p:nvPr/>
        </p:nvSpPr>
        <p:spPr>
          <a:xfrm>
            <a:off x="365760" y="3840480"/>
            <a:ext cx="1645920" cy="347472"/>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CI/CD Pipeline:</a:t>
            </a:r>
            <a:endParaRPr lang="en-US" sz="1200" dirty="0"/>
          </a:p>
        </p:txBody>
      </p:sp>
      <p:sp>
        <p:nvSpPr>
          <p:cNvPr id="19" name="Text 17"/>
          <p:cNvSpPr/>
          <p:nvPr/>
        </p:nvSpPr>
        <p:spPr>
          <a:xfrm>
            <a:off x="2103120" y="3840480"/>
            <a:ext cx="6766560" cy="347472"/>
          </a:xfrm>
          <a:prstGeom prst="rect">
            <a:avLst/>
          </a:prstGeom>
          <a:noFill/>
          <a:ln/>
        </p:spPr>
        <p:txBody>
          <a:bodyPr wrap="square" lIns="0" tIns="0" rIns="0" bIns="0" rtlCol="0" anchor="ctr"/>
          <a:lstStyle/>
          <a:p>
            <a:pPr marL="0" indent="0">
              <a:buNone/>
            </a:pPr>
            <a:r>
              <a:rPr lang="en-US" sz="1200" dirty="0">
                <a:solidFill>
                  <a:srgbClr val="000000"/>
                </a:solidFill>
                <a:latin typeface="Calibri" pitchFamily="34" charset="0"/>
                <a:ea typeface="Calibri" pitchFamily="34" charset="-122"/>
                <a:cs typeface="Calibri" pitchFamily="34" charset="-120"/>
              </a:rPr>
              <a:t>GitHub  →  Maven  →  Jenkins  →  Selenium Grid   |   Defect Tracking: JIRA Agile Board</a:t>
            </a:r>
            <a:endParaRPr lang="en-US" sz="1200" dirty="0"/>
          </a:p>
        </p:txBody>
      </p:sp>
      <p:sp>
        <p:nvSpPr>
          <p:cNvPr id="20" name="Shape 18"/>
          <p:cNvSpPr/>
          <p:nvPr/>
        </p:nvSpPr>
        <p:spPr>
          <a:xfrm>
            <a:off x="365760" y="4279392"/>
            <a:ext cx="8412480" cy="0"/>
          </a:xfrm>
          <a:prstGeom prst="line">
            <a:avLst/>
          </a:prstGeom>
          <a:noFill/>
          <a:ln w="12700">
            <a:solidFill>
              <a:srgbClr val="DDDDDD"/>
            </a:solidFill>
            <a:prstDash val="solid"/>
          </a:ln>
        </p:spPr>
        <p:txBody>
          <a:bodyPr/>
          <a:lstStyle/>
          <a:p>
            <a:endParaRPr lang="en-IN"/>
          </a:p>
        </p:txBody>
      </p:sp>
      <p:sp>
        <p:nvSpPr>
          <p:cNvPr id="21" name="Text 19"/>
          <p:cNvSpPr/>
          <p:nvPr/>
        </p:nvSpPr>
        <p:spPr>
          <a:xfrm>
            <a:off x="365760" y="4343400"/>
            <a:ext cx="1645920" cy="347472"/>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Design Pattern:</a:t>
            </a:r>
            <a:endParaRPr lang="en-US" sz="1200" dirty="0"/>
          </a:p>
        </p:txBody>
      </p:sp>
      <p:sp>
        <p:nvSpPr>
          <p:cNvPr id="22" name="Text 20"/>
          <p:cNvSpPr/>
          <p:nvPr/>
        </p:nvSpPr>
        <p:spPr>
          <a:xfrm>
            <a:off x="2103120" y="4343400"/>
            <a:ext cx="6766560" cy="347472"/>
          </a:xfrm>
          <a:prstGeom prst="rect">
            <a:avLst/>
          </a:prstGeom>
          <a:noFill/>
          <a:ln/>
        </p:spPr>
        <p:txBody>
          <a:bodyPr wrap="square" lIns="0" tIns="0" rIns="0" bIns="0" rtlCol="0" anchor="ctr"/>
          <a:lstStyle/>
          <a:p>
            <a:pPr marL="0" indent="0">
              <a:buNone/>
            </a:pPr>
            <a:r>
              <a:rPr lang="en-US" sz="1200" dirty="0">
                <a:solidFill>
                  <a:srgbClr val="000000"/>
                </a:solidFill>
                <a:latin typeface="Calibri" pitchFamily="34" charset="0"/>
                <a:ea typeface="Calibri" pitchFamily="34" charset="-122"/>
                <a:cs typeface="Calibri" pitchFamily="34" charset="-120"/>
              </a:rPr>
              <a:t>Page Object Model (POM) with Page Factory – ensures maintainability, reusability, and scalability of automation codebase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lIns="0" tIns="0" rIns="0" bIns="0"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Challenges &amp; Solutions</a:t>
            </a:r>
            <a:endParaRPr lang="en-US" sz="2400" dirty="0"/>
          </a:p>
        </p:txBody>
      </p:sp>
      <p:sp>
        <p:nvSpPr>
          <p:cNvPr id="3" name="Shape 1"/>
          <p:cNvSpPr/>
          <p:nvPr/>
        </p:nvSpPr>
        <p:spPr>
          <a:xfrm>
            <a:off x="365760" y="713232"/>
            <a:ext cx="8412480" cy="0"/>
          </a:xfrm>
          <a:prstGeom prst="line">
            <a:avLst/>
          </a:prstGeom>
          <a:noFill/>
          <a:ln w="19050">
            <a:solidFill>
              <a:srgbClr val="000000"/>
            </a:solidFill>
            <a:prstDash val="solid"/>
          </a:ln>
        </p:spPr>
        <p:txBody>
          <a:bodyPr/>
          <a:lstStyle/>
          <a:p>
            <a:endParaRPr lang="en-IN"/>
          </a:p>
        </p:txBody>
      </p:sp>
      <p:sp>
        <p:nvSpPr>
          <p:cNvPr id="4" name="Text 2"/>
          <p:cNvSpPr/>
          <p:nvPr/>
        </p:nvSpPr>
        <p:spPr>
          <a:xfrm>
            <a:off x="365760" y="868680"/>
            <a:ext cx="2926080" cy="6400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Dynamic Lazy Loading</a:t>
            </a:r>
            <a:endParaRPr lang="en-US" sz="1200" dirty="0"/>
          </a:p>
        </p:txBody>
      </p:sp>
      <p:sp>
        <p:nvSpPr>
          <p:cNvPr id="5" name="Shape 3"/>
          <p:cNvSpPr/>
          <p:nvPr/>
        </p:nvSpPr>
        <p:spPr>
          <a:xfrm>
            <a:off x="3383280" y="1033272"/>
            <a:ext cx="457200" cy="0"/>
          </a:xfrm>
          <a:prstGeom prst="line">
            <a:avLst/>
          </a:prstGeom>
          <a:noFill/>
          <a:ln w="15240">
            <a:solidFill>
              <a:srgbClr val="000000"/>
            </a:solidFill>
            <a:prstDash val="solid"/>
          </a:ln>
        </p:spPr>
        <p:txBody>
          <a:bodyPr/>
          <a:lstStyle/>
          <a:p>
            <a:endParaRPr lang="en-IN"/>
          </a:p>
        </p:txBody>
      </p:sp>
      <p:sp>
        <p:nvSpPr>
          <p:cNvPr id="6" name="Text 4"/>
          <p:cNvSpPr/>
          <p:nvPr/>
        </p:nvSpPr>
        <p:spPr>
          <a:xfrm>
            <a:off x="3337560" y="868680"/>
            <a:ext cx="548640" cy="640080"/>
          </a:xfrm>
          <a:prstGeom prst="rect">
            <a:avLst/>
          </a:prstGeom>
          <a:noFill/>
          <a:ln/>
        </p:spPr>
        <p:txBody>
          <a:bodyPr wrap="square" lIns="0" tIns="0" rIns="0" bIns="0" rtlCol="0" anchor="ctr"/>
          <a:lstStyle/>
          <a:p>
            <a:pPr marL="0" indent="0" algn="ctr">
              <a:buNone/>
            </a:pPr>
            <a:r>
              <a:rPr lang="en-US" sz="1400" b="1" dirty="0">
                <a:solidFill>
                  <a:srgbClr val="000000"/>
                </a:solidFill>
              </a:rPr>
              <a:t>→</a:t>
            </a:r>
            <a:endParaRPr lang="en-US" sz="1400" dirty="0"/>
          </a:p>
        </p:txBody>
      </p:sp>
      <p:sp>
        <p:nvSpPr>
          <p:cNvPr id="7" name="Text 5"/>
          <p:cNvSpPr/>
          <p:nvPr/>
        </p:nvSpPr>
        <p:spPr>
          <a:xfrm>
            <a:off x="3931920" y="868680"/>
            <a:ext cx="4937760" cy="640080"/>
          </a:xfrm>
          <a:prstGeom prst="rect">
            <a:avLst/>
          </a:prstGeom>
          <a:noFill/>
          <a:ln/>
        </p:spPr>
        <p:txBody>
          <a:bodyPr wrap="square" lIns="0" tIns="0" rIns="0" bIns="0" rtlCol="0" anchor="ctr"/>
          <a:lstStyle/>
          <a:p>
            <a:pPr marL="0" indent="0">
              <a:lnSpc>
                <a:spcPct val="130000"/>
              </a:lnSpc>
              <a:buNone/>
            </a:pPr>
            <a:r>
              <a:rPr lang="en-US" sz="1150" dirty="0">
                <a:solidFill>
                  <a:srgbClr val="000000"/>
                </a:solidFill>
                <a:latin typeface="Calibri" pitchFamily="34" charset="0"/>
                <a:ea typeface="Calibri" pitchFamily="34" charset="-122"/>
                <a:cs typeface="Calibri" pitchFamily="34" charset="-120"/>
              </a:rPr>
              <a:t>Used JavascriptExecutor scrolling + Explicit Waits (ExpectedConditions.visibilityOfElementLocated) before data extraction.</a:t>
            </a:r>
            <a:endParaRPr lang="en-US" sz="1150" dirty="0"/>
          </a:p>
        </p:txBody>
      </p:sp>
      <p:sp>
        <p:nvSpPr>
          <p:cNvPr id="8" name="Shape 6"/>
          <p:cNvSpPr/>
          <p:nvPr/>
        </p:nvSpPr>
        <p:spPr>
          <a:xfrm>
            <a:off x="365760" y="1581912"/>
            <a:ext cx="8412480" cy="0"/>
          </a:xfrm>
          <a:prstGeom prst="line">
            <a:avLst/>
          </a:prstGeom>
          <a:noFill/>
          <a:ln w="10160">
            <a:solidFill>
              <a:srgbClr val="DDDDDD"/>
            </a:solidFill>
            <a:prstDash val="solid"/>
          </a:ln>
        </p:spPr>
        <p:txBody>
          <a:bodyPr/>
          <a:lstStyle/>
          <a:p>
            <a:endParaRPr lang="en-IN"/>
          </a:p>
        </p:txBody>
      </p:sp>
      <p:sp>
        <p:nvSpPr>
          <p:cNvPr id="9" name="Text 7"/>
          <p:cNvSpPr/>
          <p:nvPr/>
        </p:nvSpPr>
        <p:spPr>
          <a:xfrm>
            <a:off x="365760" y="1691640"/>
            <a:ext cx="2926080" cy="6400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Nested Dropdown Extraction</a:t>
            </a:r>
            <a:endParaRPr lang="en-US" sz="1200" dirty="0"/>
          </a:p>
        </p:txBody>
      </p:sp>
      <p:sp>
        <p:nvSpPr>
          <p:cNvPr id="10" name="Shape 8"/>
          <p:cNvSpPr/>
          <p:nvPr/>
        </p:nvSpPr>
        <p:spPr>
          <a:xfrm>
            <a:off x="3383280" y="1856232"/>
            <a:ext cx="457200" cy="0"/>
          </a:xfrm>
          <a:prstGeom prst="line">
            <a:avLst/>
          </a:prstGeom>
          <a:noFill/>
          <a:ln w="15240">
            <a:solidFill>
              <a:srgbClr val="000000"/>
            </a:solidFill>
            <a:prstDash val="solid"/>
          </a:ln>
        </p:spPr>
        <p:txBody>
          <a:bodyPr/>
          <a:lstStyle/>
          <a:p>
            <a:endParaRPr lang="en-IN"/>
          </a:p>
        </p:txBody>
      </p:sp>
      <p:sp>
        <p:nvSpPr>
          <p:cNvPr id="11" name="Text 9"/>
          <p:cNvSpPr/>
          <p:nvPr/>
        </p:nvSpPr>
        <p:spPr>
          <a:xfrm>
            <a:off x="3337560" y="1691640"/>
            <a:ext cx="548640" cy="640080"/>
          </a:xfrm>
          <a:prstGeom prst="rect">
            <a:avLst/>
          </a:prstGeom>
          <a:noFill/>
          <a:ln/>
        </p:spPr>
        <p:txBody>
          <a:bodyPr wrap="square" lIns="0" tIns="0" rIns="0" bIns="0" rtlCol="0" anchor="ctr"/>
          <a:lstStyle/>
          <a:p>
            <a:pPr marL="0" indent="0" algn="ctr">
              <a:buNone/>
            </a:pPr>
            <a:r>
              <a:rPr lang="en-US" sz="1400" b="1" dirty="0">
                <a:solidFill>
                  <a:srgbClr val="000000"/>
                </a:solidFill>
              </a:rPr>
              <a:t>→</a:t>
            </a:r>
            <a:endParaRPr lang="en-US" sz="1400" dirty="0"/>
          </a:p>
        </p:txBody>
      </p:sp>
      <p:sp>
        <p:nvSpPr>
          <p:cNvPr id="12" name="Text 10"/>
          <p:cNvSpPr/>
          <p:nvPr/>
        </p:nvSpPr>
        <p:spPr>
          <a:xfrm>
            <a:off x="3931920" y="1691640"/>
            <a:ext cx="4937760" cy="640080"/>
          </a:xfrm>
          <a:prstGeom prst="rect">
            <a:avLst/>
          </a:prstGeom>
          <a:noFill/>
          <a:ln/>
        </p:spPr>
        <p:txBody>
          <a:bodyPr wrap="square" lIns="0" tIns="0" rIns="0" bIns="0" rtlCol="0" anchor="ctr"/>
          <a:lstStyle/>
          <a:p>
            <a:pPr marL="0" indent="0">
              <a:lnSpc>
                <a:spcPct val="130000"/>
              </a:lnSpc>
              <a:buNone/>
            </a:pPr>
            <a:r>
              <a:rPr lang="en-US" sz="1150" dirty="0">
                <a:solidFill>
                  <a:srgbClr val="000000"/>
                </a:solidFill>
                <a:latin typeface="Calibri" pitchFamily="34" charset="0"/>
                <a:ea typeface="Calibri" pitchFamily="34" charset="-122"/>
                <a:cs typeface="Calibri" pitchFamily="34" charset="-120"/>
              </a:rPr>
              <a:t>Scrolled inside filter container div using JS; looped with findElements() and stored results in HashMap&lt;String, ArrayList&gt;.</a:t>
            </a:r>
            <a:endParaRPr lang="en-US" sz="1150" dirty="0"/>
          </a:p>
        </p:txBody>
      </p:sp>
      <p:sp>
        <p:nvSpPr>
          <p:cNvPr id="13" name="Shape 11"/>
          <p:cNvSpPr/>
          <p:nvPr/>
        </p:nvSpPr>
        <p:spPr>
          <a:xfrm>
            <a:off x="365760" y="2404872"/>
            <a:ext cx="8412480" cy="0"/>
          </a:xfrm>
          <a:prstGeom prst="line">
            <a:avLst/>
          </a:prstGeom>
          <a:noFill/>
          <a:ln w="10160">
            <a:solidFill>
              <a:srgbClr val="DDDDDD"/>
            </a:solidFill>
            <a:prstDash val="solid"/>
          </a:ln>
        </p:spPr>
        <p:txBody>
          <a:bodyPr/>
          <a:lstStyle/>
          <a:p>
            <a:endParaRPr lang="en-IN"/>
          </a:p>
        </p:txBody>
      </p:sp>
      <p:sp>
        <p:nvSpPr>
          <p:cNvPr id="14" name="Text 12"/>
          <p:cNvSpPr/>
          <p:nvPr/>
        </p:nvSpPr>
        <p:spPr>
          <a:xfrm>
            <a:off x="365760" y="2514600"/>
            <a:ext cx="2926080" cy="6400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Form Below Page Fold</a:t>
            </a:r>
            <a:endParaRPr lang="en-US" sz="1200" dirty="0"/>
          </a:p>
        </p:txBody>
      </p:sp>
      <p:sp>
        <p:nvSpPr>
          <p:cNvPr id="15" name="Shape 13"/>
          <p:cNvSpPr/>
          <p:nvPr/>
        </p:nvSpPr>
        <p:spPr>
          <a:xfrm>
            <a:off x="3383280" y="2679192"/>
            <a:ext cx="457200" cy="0"/>
          </a:xfrm>
          <a:prstGeom prst="line">
            <a:avLst/>
          </a:prstGeom>
          <a:noFill/>
          <a:ln w="15240">
            <a:solidFill>
              <a:srgbClr val="000000"/>
            </a:solidFill>
            <a:prstDash val="solid"/>
          </a:ln>
        </p:spPr>
        <p:txBody>
          <a:bodyPr/>
          <a:lstStyle/>
          <a:p>
            <a:endParaRPr lang="en-IN"/>
          </a:p>
        </p:txBody>
      </p:sp>
      <p:sp>
        <p:nvSpPr>
          <p:cNvPr id="16" name="Text 14"/>
          <p:cNvSpPr/>
          <p:nvPr/>
        </p:nvSpPr>
        <p:spPr>
          <a:xfrm>
            <a:off x="3337560" y="2514600"/>
            <a:ext cx="548640" cy="640080"/>
          </a:xfrm>
          <a:prstGeom prst="rect">
            <a:avLst/>
          </a:prstGeom>
          <a:noFill/>
          <a:ln/>
        </p:spPr>
        <p:txBody>
          <a:bodyPr wrap="square" lIns="0" tIns="0" rIns="0" bIns="0" rtlCol="0" anchor="ctr"/>
          <a:lstStyle/>
          <a:p>
            <a:pPr marL="0" indent="0" algn="ctr">
              <a:buNone/>
            </a:pPr>
            <a:r>
              <a:rPr lang="en-US" sz="1400" b="1" dirty="0">
                <a:solidFill>
                  <a:srgbClr val="000000"/>
                </a:solidFill>
              </a:rPr>
              <a:t>→</a:t>
            </a:r>
            <a:endParaRPr lang="en-US" sz="1400" dirty="0"/>
          </a:p>
        </p:txBody>
      </p:sp>
      <p:sp>
        <p:nvSpPr>
          <p:cNvPr id="17" name="Text 15"/>
          <p:cNvSpPr/>
          <p:nvPr/>
        </p:nvSpPr>
        <p:spPr>
          <a:xfrm>
            <a:off x="3931920" y="2514600"/>
            <a:ext cx="4937760" cy="640080"/>
          </a:xfrm>
          <a:prstGeom prst="rect">
            <a:avLst/>
          </a:prstGeom>
          <a:noFill/>
          <a:ln/>
        </p:spPr>
        <p:txBody>
          <a:bodyPr wrap="square" lIns="0" tIns="0" rIns="0" bIns="0" rtlCol="0" anchor="ctr"/>
          <a:lstStyle/>
          <a:p>
            <a:pPr marL="0" indent="0">
              <a:lnSpc>
                <a:spcPct val="130000"/>
              </a:lnSpc>
              <a:buNone/>
            </a:pPr>
            <a:r>
              <a:rPr lang="en-US" sz="1150" dirty="0">
                <a:solidFill>
                  <a:srgbClr val="000000"/>
                </a:solidFill>
                <a:latin typeface="Calibri" pitchFamily="34" charset="0"/>
                <a:ea typeface="Calibri" pitchFamily="34" charset="-122"/>
                <a:cs typeface="Calibri" pitchFamily="34" charset="-120"/>
              </a:rPr>
              <a:t>Applied scrollIntoView() before each field; combined with WebDriverWait.elementToBeClickable() for all form interactions.</a:t>
            </a:r>
            <a:endParaRPr lang="en-US" sz="1150" dirty="0"/>
          </a:p>
        </p:txBody>
      </p:sp>
      <p:sp>
        <p:nvSpPr>
          <p:cNvPr id="18" name="Shape 16"/>
          <p:cNvSpPr/>
          <p:nvPr/>
        </p:nvSpPr>
        <p:spPr>
          <a:xfrm>
            <a:off x="365760" y="3227832"/>
            <a:ext cx="8412480" cy="0"/>
          </a:xfrm>
          <a:prstGeom prst="line">
            <a:avLst/>
          </a:prstGeom>
          <a:noFill/>
          <a:ln w="10160">
            <a:solidFill>
              <a:srgbClr val="DDDDDD"/>
            </a:solidFill>
            <a:prstDash val="solid"/>
          </a:ln>
        </p:spPr>
        <p:txBody>
          <a:bodyPr/>
          <a:lstStyle/>
          <a:p>
            <a:endParaRPr lang="en-IN"/>
          </a:p>
        </p:txBody>
      </p:sp>
      <p:sp>
        <p:nvSpPr>
          <p:cNvPr id="19" name="Text 17"/>
          <p:cNvSpPr/>
          <p:nvPr/>
        </p:nvSpPr>
        <p:spPr>
          <a:xfrm>
            <a:off x="365760" y="3337560"/>
            <a:ext cx="2926080" cy="6400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Capturing Dynamic Error Message</a:t>
            </a:r>
            <a:endParaRPr lang="en-US" sz="1200" dirty="0"/>
          </a:p>
        </p:txBody>
      </p:sp>
      <p:sp>
        <p:nvSpPr>
          <p:cNvPr id="20" name="Shape 18"/>
          <p:cNvSpPr/>
          <p:nvPr/>
        </p:nvSpPr>
        <p:spPr>
          <a:xfrm>
            <a:off x="3383280" y="3502152"/>
            <a:ext cx="457200" cy="0"/>
          </a:xfrm>
          <a:prstGeom prst="line">
            <a:avLst/>
          </a:prstGeom>
          <a:noFill/>
          <a:ln w="15240">
            <a:solidFill>
              <a:srgbClr val="000000"/>
            </a:solidFill>
            <a:prstDash val="solid"/>
          </a:ln>
        </p:spPr>
        <p:txBody>
          <a:bodyPr/>
          <a:lstStyle/>
          <a:p>
            <a:endParaRPr lang="en-IN"/>
          </a:p>
        </p:txBody>
      </p:sp>
      <p:sp>
        <p:nvSpPr>
          <p:cNvPr id="21" name="Text 19"/>
          <p:cNvSpPr/>
          <p:nvPr/>
        </p:nvSpPr>
        <p:spPr>
          <a:xfrm>
            <a:off x="3337560" y="3337560"/>
            <a:ext cx="548640" cy="640080"/>
          </a:xfrm>
          <a:prstGeom prst="rect">
            <a:avLst/>
          </a:prstGeom>
          <a:noFill/>
          <a:ln/>
        </p:spPr>
        <p:txBody>
          <a:bodyPr wrap="square" lIns="0" tIns="0" rIns="0" bIns="0" rtlCol="0" anchor="ctr"/>
          <a:lstStyle/>
          <a:p>
            <a:pPr marL="0" indent="0" algn="ctr">
              <a:buNone/>
            </a:pPr>
            <a:r>
              <a:rPr lang="en-US" sz="1400" b="1" dirty="0">
                <a:solidFill>
                  <a:srgbClr val="000000"/>
                </a:solidFill>
              </a:rPr>
              <a:t>→</a:t>
            </a:r>
            <a:endParaRPr lang="en-US" sz="1400" dirty="0"/>
          </a:p>
        </p:txBody>
      </p:sp>
      <p:sp>
        <p:nvSpPr>
          <p:cNvPr id="22" name="Text 20"/>
          <p:cNvSpPr/>
          <p:nvPr/>
        </p:nvSpPr>
        <p:spPr>
          <a:xfrm>
            <a:off x="3931920" y="3337560"/>
            <a:ext cx="4937760" cy="640080"/>
          </a:xfrm>
          <a:prstGeom prst="rect">
            <a:avLst/>
          </a:prstGeom>
          <a:noFill/>
          <a:ln/>
        </p:spPr>
        <p:txBody>
          <a:bodyPr wrap="square" lIns="0" tIns="0" rIns="0" bIns="0" rtlCol="0" anchor="ctr"/>
          <a:lstStyle/>
          <a:p>
            <a:pPr marL="0" indent="0">
              <a:lnSpc>
                <a:spcPct val="130000"/>
              </a:lnSpc>
              <a:buNone/>
            </a:pPr>
            <a:r>
              <a:rPr lang="en-US" sz="1150" dirty="0">
                <a:solidFill>
                  <a:srgbClr val="000000"/>
                </a:solidFill>
                <a:latin typeface="Calibri" pitchFamily="34" charset="0"/>
                <a:ea typeface="Calibri" pitchFamily="34" charset="-122"/>
                <a:cs typeface="Calibri" pitchFamily="34" charset="-120"/>
              </a:rPr>
              <a:t>Located error element via relative XPath anchored to email field; used Explicit Wait for visibilityOfElementLocated before getText().</a:t>
            </a:r>
            <a:endParaRPr lang="en-US" sz="1150" dirty="0"/>
          </a:p>
        </p:txBody>
      </p:sp>
      <p:sp>
        <p:nvSpPr>
          <p:cNvPr id="23" name="Shape 21"/>
          <p:cNvSpPr/>
          <p:nvPr/>
        </p:nvSpPr>
        <p:spPr>
          <a:xfrm>
            <a:off x="365760" y="4050792"/>
            <a:ext cx="8412480" cy="0"/>
          </a:xfrm>
          <a:prstGeom prst="line">
            <a:avLst/>
          </a:prstGeom>
          <a:noFill/>
          <a:ln w="10160">
            <a:solidFill>
              <a:srgbClr val="DDDDDD"/>
            </a:solidFill>
            <a:prstDash val="solid"/>
          </a:ln>
        </p:spPr>
        <p:txBody>
          <a:bodyPr/>
          <a:lstStyle/>
          <a:p>
            <a:endParaRPr lang="en-IN"/>
          </a:p>
        </p:txBody>
      </p:sp>
      <p:sp>
        <p:nvSpPr>
          <p:cNvPr id="24" name="Text 22"/>
          <p:cNvSpPr/>
          <p:nvPr/>
        </p:nvSpPr>
        <p:spPr>
          <a:xfrm>
            <a:off x="365760" y="4160520"/>
            <a:ext cx="2926080" cy="6400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Environment Version Conflicts</a:t>
            </a:r>
            <a:endParaRPr lang="en-US" sz="1200" dirty="0"/>
          </a:p>
        </p:txBody>
      </p:sp>
      <p:sp>
        <p:nvSpPr>
          <p:cNvPr id="25" name="Shape 23"/>
          <p:cNvSpPr/>
          <p:nvPr/>
        </p:nvSpPr>
        <p:spPr>
          <a:xfrm>
            <a:off x="3383280" y="4325112"/>
            <a:ext cx="457200" cy="0"/>
          </a:xfrm>
          <a:prstGeom prst="line">
            <a:avLst/>
          </a:prstGeom>
          <a:noFill/>
          <a:ln w="15240">
            <a:solidFill>
              <a:srgbClr val="000000"/>
            </a:solidFill>
            <a:prstDash val="solid"/>
          </a:ln>
        </p:spPr>
        <p:txBody>
          <a:bodyPr/>
          <a:lstStyle/>
          <a:p>
            <a:endParaRPr lang="en-IN"/>
          </a:p>
        </p:txBody>
      </p:sp>
      <p:sp>
        <p:nvSpPr>
          <p:cNvPr id="26" name="Text 24"/>
          <p:cNvSpPr/>
          <p:nvPr/>
        </p:nvSpPr>
        <p:spPr>
          <a:xfrm>
            <a:off x="3337560" y="4160520"/>
            <a:ext cx="548640" cy="640080"/>
          </a:xfrm>
          <a:prstGeom prst="rect">
            <a:avLst/>
          </a:prstGeom>
          <a:noFill/>
          <a:ln/>
        </p:spPr>
        <p:txBody>
          <a:bodyPr wrap="square" lIns="0" tIns="0" rIns="0" bIns="0" rtlCol="0" anchor="ctr"/>
          <a:lstStyle/>
          <a:p>
            <a:pPr marL="0" indent="0" algn="ctr">
              <a:buNone/>
            </a:pPr>
            <a:r>
              <a:rPr lang="en-US" sz="1400" b="1" dirty="0">
                <a:solidFill>
                  <a:srgbClr val="000000"/>
                </a:solidFill>
              </a:rPr>
              <a:t>→</a:t>
            </a:r>
            <a:endParaRPr lang="en-US" sz="1400" dirty="0"/>
          </a:p>
        </p:txBody>
      </p:sp>
      <p:sp>
        <p:nvSpPr>
          <p:cNvPr id="27" name="Text 25"/>
          <p:cNvSpPr/>
          <p:nvPr/>
        </p:nvSpPr>
        <p:spPr>
          <a:xfrm>
            <a:off x="3931920" y="4160520"/>
            <a:ext cx="4937760" cy="640080"/>
          </a:xfrm>
          <a:prstGeom prst="rect">
            <a:avLst/>
          </a:prstGeom>
          <a:noFill/>
          <a:ln/>
        </p:spPr>
        <p:txBody>
          <a:bodyPr wrap="square" lIns="0" tIns="0" rIns="0" bIns="0" rtlCol="0" anchor="ctr"/>
          <a:lstStyle/>
          <a:p>
            <a:pPr marL="0" indent="0">
              <a:lnSpc>
                <a:spcPct val="130000"/>
              </a:lnSpc>
              <a:buNone/>
            </a:pPr>
            <a:r>
              <a:rPr lang="en-US" sz="1150" dirty="0">
                <a:solidFill>
                  <a:srgbClr val="000000"/>
                </a:solidFill>
                <a:latin typeface="Calibri" pitchFamily="34" charset="0"/>
                <a:ea typeface="Calibri" pitchFamily="34" charset="-122"/>
                <a:cs typeface="Calibri" pitchFamily="34" charset="-120"/>
              </a:rPr>
              <a:t>Used Selenium Manager (bundled in Selenium 4.x) for auto ChromeDriver management; fixed Maven POM.xml dependency versions.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lIns="0" tIns="0" rIns="0" bIns="0"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Weekly Work Log</a:t>
            </a:r>
            <a:endParaRPr lang="en-US" sz="2400" dirty="0"/>
          </a:p>
        </p:txBody>
      </p:sp>
      <p:sp>
        <p:nvSpPr>
          <p:cNvPr id="3" name="Shape 1"/>
          <p:cNvSpPr/>
          <p:nvPr/>
        </p:nvSpPr>
        <p:spPr>
          <a:xfrm>
            <a:off x="365760" y="713232"/>
            <a:ext cx="8412480" cy="0"/>
          </a:xfrm>
          <a:prstGeom prst="line">
            <a:avLst/>
          </a:prstGeom>
          <a:noFill/>
          <a:ln w="19050">
            <a:solidFill>
              <a:srgbClr val="000000"/>
            </a:solidFill>
            <a:prstDash val="solid"/>
          </a:ln>
        </p:spPr>
        <p:txBody>
          <a:bodyPr/>
          <a:lstStyle/>
          <a:p>
            <a:endParaRPr lang="en-IN"/>
          </a:p>
        </p:txBody>
      </p:sp>
      <p:sp>
        <p:nvSpPr>
          <p:cNvPr id="4" name="Shape 2"/>
          <p:cNvSpPr/>
          <p:nvPr/>
        </p:nvSpPr>
        <p:spPr>
          <a:xfrm>
            <a:off x="365760" y="804672"/>
            <a:ext cx="1097280" cy="347472"/>
          </a:xfrm>
          <a:prstGeom prst="rect">
            <a:avLst/>
          </a:prstGeom>
          <a:solidFill>
            <a:srgbClr val="000000"/>
          </a:solidFill>
          <a:ln w="12700">
            <a:solidFill>
              <a:srgbClr val="000000"/>
            </a:solidFill>
            <a:prstDash val="solid"/>
          </a:ln>
        </p:spPr>
        <p:txBody>
          <a:bodyPr/>
          <a:lstStyle/>
          <a:p>
            <a:endParaRPr lang="en-IN"/>
          </a:p>
        </p:txBody>
      </p:sp>
      <p:sp>
        <p:nvSpPr>
          <p:cNvPr id="5" name="Text 3"/>
          <p:cNvSpPr/>
          <p:nvPr/>
        </p:nvSpPr>
        <p:spPr>
          <a:xfrm>
            <a:off x="420624" y="804672"/>
            <a:ext cx="10058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Week</a:t>
            </a:r>
            <a:endParaRPr lang="en-US" sz="1200" dirty="0"/>
          </a:p>
        </p:txBody>
      </p:sp>
      <p:sp>
        <p:nvSpPr>
          <p:cNvPr id="6" name="Shape 4"/>
          <p:cNvSpPr/>
          <p:nvPr/>
        </p:nvSpPr>
        <p:spPr>
          <a:xfrm>
            <a:off x="1508760" y="804672"/>
            <a:ext cx="1463040" cy="347472"/>
          </a:xfrm>
          <a:prstGeom prst="rect">
            <a:avLst/>
          </a:prstGeom>
          <a:solidFill>
            <a:srgbClr val="000000"/>
          </a:solidFill>
          <a:ln w="12700">
            <a:solidFill>
              <a:srgbClr val="000000"/>
            </a:solidFill>
            <a:prstDash val="solid"/>
          </a:ln>
        </p:spPr>
        <p:txBody>
          <a:bodyPr/>
          <a:lstStyle/>
          <a:p>
            <a:endParaRPr lang="en-IN"/>
          </a:p>
        </p:txBody>
      </p:sp>
      <p:sp>
        <p:nvSpPr>
          <p:cNvPr id="7" name="Text 5"/>
          <p:cNvSpPr/>
          <p:nvPr/>
        </p:nvSpPr>
        <p:spPr>
          <a:xfrm>
            <a:off x="1563624" y="804672"/>
            <a:ext cx="137160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Dates</a:t>
            </a:r>
            <a:endParaRPr lang="en-US" sz="1200" dirty="0"/>
          </a:p>
        </p:txBody>
      </p:sp>
      <p:sp>
        <p:nvSpPr>
          <p:cNvPr id="8" name="Shape 6"/>
          <p:cNvSpPr/>
          <p:nvPr/>
        </p:nvSpPr>
        <p:spPr>
          <a:xfrm>
            <a:off x="3017520" y="804672"/>
            <a:ext cx="5897880" cy="347472"/>
          </a:xfrm>
          <a:prstGeom prst="rect">
            <a:avLst/>
          </a:prstGeom>
          <a:solidFill>
            <a:srgbClr val="000000"/>
          </a:solidFill>
          <a:ln w="12700">
            <a:solidFill>
              <a:srgbClr val="000000"/>
            </a:solidFill>
            <a:prstDash val="solid"/>
          </a:ln>
        </p:spPr>
        <p:txBody>
          <a:bodyPr/>
          <a:lstStyle/>
          <a:p>
            <a:endParaRPr lang="en-IN"/>
          </a:p>
        </p:txBody>
      </p:sp>
      <p:sp>
        <p:nvSpPr>
          <p:cNvPr id="9" name="Text 7"/>
          <p:cNvSpPr/>
          <p:nvPr/>
        </p:nvSpPr>
        <p:spPr>
          <a:xfrm>
            <a:off x="3072384" y="804672"/>
            <a:ext cx="58064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Tasks Performed &amp; Outcomes</a:t>
            </a:r>
            <a:endParaRPr lang="en-US" sz="1200" dirty="0"/>
          </a:p>
        </p:txBody>
      </p:sp>
      <p:sp>
        <p:nvSpPr>
          <p:cNvPr id="10" name="Shape 8"/>
          <p:cNvSpPr/>
          <p:nvPr/>
        </p:nvSpPr>
        <p:spPr>
          <a:xfrm>
            <a:off x="365760" y="1188720"/>
            <a:ext cx="1097280" cy="475488"/>
          </a:xfrm>
          <a:prstGeom prst="rect">
            <a:avLst/>
          </a:prstGeom>
          <a:solidFill>
            <a:srgbClr val="F5F5F5"/>
          </a:solidFill>
          <a:ln w="10160">
            <a:solidFill>
              <a:srgbClr val="DDDDDD"/>
            </a:solidFill>
            <a:prstDash val="solid"/>
          </a:ln>
        </p:spPr>
        <p:txBody>
          <a:bodyPr/>
          <a:lstStyle/>
          <a:p>
            <a:endParaRPr lang="en-IN"/>
          </a:p>
        </p:txBody>
      </p:sp>
      <p:sp>
        <p:nvSpPr>
          <p:cNvPr id="11" name="Text 9"/>
          <p:cNvSpPr/>
          <p:nvPr/>
        </p:nvSpPr>
        <p:spPr>
          <a:xfrm>
            <a:off x="420624" y="1207008"/>
            <a:ext cx="100584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Week 1–2</a:t>
            </a:r>
            <a:endParaRPr lang="en-US" sz="1100" dirty="0"/>
          </a:p>
        </p:txBody>
      </p:sp>
      <p:sp>
        <p:nvSpPr>
          <p:cNvPr id="12" name="Shape 10"/>
          <p:cNvSpPr/>
          <p:nvPr/>
        </p:nvSpPr>
        <p:spPr>
          <a:xfrm>
            <a:off x="1508760" y="1188720"/>
            <a:ext cx="1463040" cy="475488"/>
          </a:xfrm>
          <a:prstGeom prst="rect">
            <a:avLst/>
          </a:prstGeom>
          <a:solidFill>
            <a:srgbClr val="F5F5F5"/>
          </a:solidFill>
          <a:ln w="10160">
            <a:solidFill>
              <a:srgbClr val="DDDDDD"/>
            </a:solidFill>
            <a:prstDash val="solid"/>
          </a:ln>
        </p:spPr>
        <p:txBody>
          <a:bodyPr/>
          <a:lstStyle/>
          <a:p>
            <a:endParaRPr lang="en-IN"/>
          </a:p>
        </p:txBody>
      </p:sp>
      <p:sp>
        <p:nvSpPr>
          <p:cNvPr id="13" name="Text 11"/>
          <p:cNvSpPr/>
          <p:nvPr/>
        </p:nvSpPr>
        <p:spPr>
          <a:xfrm>
            <a:off x="1563624" y="1207008"/>
            <a:ext cx="137160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Jan 31–Feb 11</a:t>
            </a:r>
            <a:endParaRPr lang="en-US" sz="1100" dirty="0"/>
          </a:p>
        </p:txBody>
      </p:sp>
      <p:sp>
        <p:nvSpPr>
          <p:cNvPr id="14" name="Shape 12"/>
          <p:cNvSpPr/>
          <p:nvPr/>
        </p:nvSpPr>
        <p:spPr>
          <a:xfrm>
            <a:off x="3017520" y="1188720"/>
            <a:ext cx="5897880" cy="475488"/>
          </a:xfrm>
          <a:prstGeom prst="rect">
            <a:avLst/>
          </a:prstGeom>
          <a:solidFill>
            <a:srgbClr val="F5F5F5"/>
          </a:solidFill>
          <a:ln w="10160">
            <a:solidFill>
              <a:srgbClr val="DDDDDD"/>
            </a:solidFill>
            <a:prstDash val="solid"/>
          </a:ln>
        </p:spPr>
        <p:txBody>
          <a:bodyPr/>
          <a:lstStyle/>
          <a:p>
            <a:endParaRPr lang="en-IN"/>
          </a:p>
        </p:txBody>
      </p:sp>
      <p:sp>
        <p:nvSpPr>
          <p:cNvPr id="15" name="Text 13"/>
          <p:cNvSpPr/>
          <p:nvPr/>
        </p:nvSpPr>
        <p:spPr>
          <a:xfrm>
            <a:off x="3072384" y="1207008"/>
            <a:ext cx="580644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Corporate induction, Core Java – OOP, Collections, Exception Handling, JDBC</a:t>
            </a:r>
            <a:endParaRPr lang="en-US" sz="1100" dirty="0"/>
          </a:p>
        </p:txBody>
      </p:sp>
      <p:sp>
        <p:nvSpPr>
          <p:cNvPr id="16" name="Shape 14"/>
          <p:cNvSpPr/>
          <p:nvPr/>
        </p:nvSpPr>
        <p:spPr>
          <a:xfrm>
            <a:off x="365760" y="1709928"/>
            <a:ext cx="1097280" cy="475488"/>
          </a:xfrm>
          <a:prstGeom prst="rect">
            <a:avLst/>
          </a:prstGeom>
          <a:solidFill>
            <a:srgbClr val="FFFFFF"/>
          </a:solidFill>
          <a:ln w="10160">
            <a:solidFill>
              <a:srgbClr val="DDDDDD"/>
            </a:solidFill>
            <a:prstDash val="solid"/>
          </a:ln>
        </p:spPr>
        <p:txBody>
          <a:bodyPr/>
          <a:lstStyle/>
          <a:p>
            <a:endParaRPr lang="en-IN"/>
          </a:p>
        </p:txBody>
      </p:sp>
      <p:sp>
        <p:nvSpPr>
          <p:cNvPr id="17" name="Text 15"/>
          <p:cNvSpPr/>
          <p:nvPr/>
        </p:nvSpPr>
        <p:spPr>
          <a:xfrm>
            <a:off x="420624" y="1728216"/>
            <a:ext cx="100584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Week 3–4</a:t>
            </a:r>
            <a:endParaRPr lang="en-US" sz="1100" dirty="0"/>
          </a:p>
        </p:txBody>
      </p:sp>
      <p:sp>
        <p:nvSpPr>
          <p:cNvPr id="18" name="Shape 16"/>
          <p:cNvSpPr/>
          <p:nvPr/>
        </p:nvSpPr>
        <p:spPr>
          <a:xfrm>
            <a:off x="1508760" y="1709928"/>
            <a:ext cx="1463040" cy="475488"/>
          </a:xfrm>
          <a:prstGeom prst="rect">
            <a:avLst/>
          </a:prstGeom>
          <a:solidFill>
            <a:srgbClr val="FFFFFF"/>
          </a:solidFill>
          <a:ln w="10160">
            <a:solidFill>
              <a:srgbClr val="DDDDDD"/>
            </a:solidFill>
            <a:prstDash val="solid"/>
          </a:ln>
        </p:spPr>
        <p:txBody>
          <a:bodyPr/>
          <a:lstStyle/>
          <a:p>
            <a:endParaRPr lang="en-IN"/>
          </a:p>
        </p:txBody>
      </p:sp>
      <p:sp>
        <p:nvSpPr>
          <p:cNvPr id="19" name="Text 17"/>
          <p:cNvSpPr/>
          <p:nvPr/>
        </p:nvSpPr>
        <p:spPr>
          <a:xfrm>
            <a:off x="1563624" y="1728216"/>
            <a:ext cx="137160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Feb 14–25</a:t>
            </a:r>
            <a:endParaRPr lang="en-US" sz="1100" dirty="0"/>
          </a:p>
        </p:txBody>
      </p:sp>
      <p:sp>
        <p:nvSpPr>
          <p:cNvPr id="20" name="Shape 18"/>
          <p:cNvSpPr/>
          <p:nvPr/>
        </p:nvSpPr>
        <p:spPr>
          <a:xfrm>
            <a:off x="3017520" y="1709928"/>
            <a:ext cx="5897880" cy="475488"/>
          </a:xfrm>
          <a:prstGeom prst="rect">
            <a:avLst/>
          </a:prstGeom>
          <a:solidFill>
            <a:srgbClr val="FFFFFF"/>
          </a:solidFill>
          <a:ln w="10160">
            <a:solidFill>
              <a:srgbClr val="DDDDDD"/>
            </a:solidFill>
            <a:prstDash val="solid"/>
          </a:ln>
        </p:spPr>
        <p:txBody>
          <a:bodyPr/>
          <a:lstStyle/>
          <a:p>
            <a:endParaRPr lang="en-IN"/>
          </a:p>
        </p:txBody>
      </p:sp>
      <p:sp>
        <p:nvSpPr>
          <p:cNvPr id="21" name="Text 19"/>
          <p:cNvSpPr/>
          <p:nvPr/>
        </p:nvSpPr>
        <p:spPr>
          <a:xfrm>
            <a:off x="3072384" y="1728216"/>
            <a:ext cx="580644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Java 8, SQL, Stage 1 Assessment, Agile/Scrum, Functional Testing, JIRA setup</a:t>
            </a:r>
            <a:endParaRPr lang="en-US" sz="1100" dirty="0"/>
          </a:p>
        </p:txBody>
      </p:sp>
      <p:sp>
        <p:nvSpPr>
          <p:cNvPr id="22" name="Shape 20"/>
          <p:cNvSpPr/>
          <p:nvPr/>
        </p:nvSpPr>
        <p:spPr>
          <a:xfrm>
            <a:off x="365760" y="2231136"/>
            <a:ext cx="1097280" cy="475488"/>
          </a:xfrm>
          <a:prstGeom prst="rect">
            <a:avLst/>
          </a:prstGeom>
          <a:solidFill>
            <a:srgbClr val="F5F5F5"/>
          </a:solidFill>
          <a:ln w="10160">
            <a:solidFill>
              <a:srgbClr val="DDDDDD"/>
            </a:solidFill>
            <a:prstDash val="solid"/>
          </a:ln>
        </p:spPr>
        <p:txBody>
          <a:bodyPr/>
          <a:lstStyle/>
          <a:p>
            <a:endParaRPr lang="en-IN"/>
          </a:p>
        </p:txBody>
      </p:sp>
      <p:sp>
        <p:nvSpPr>
          <p:cNvPr id="23" name="Text 21"/>
          <p:cNvSpPr/>
          <p:nvPr/>
        </p:nvSpPr>
        <p:spPr>
          <a:xfrm>
            <a:off x="420624" y="2249424"/>
            <a:ext cx="100584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Week 5–6</a:t>
            </a:r>
            <a:endParaRPr lang="en-US" sz="1100" dirty="0"/>
          </a:p>
        </p:txBody>
      </p:sp>
      <p:sp>
        <p:nvSpPr>
          <p:cNvPr id="24" name="Shape 22"/>
          <p:cNvSpPr/>
          <p:nvPr/>
        </p:nvSpPr>
        <p:spPr>
          <a:xfrm>
            <a:off x="1508760" y="2231136"/>
            <a:ext cx="1463040" cy="475488"/>
          </a:xfrm>
          <a:prstGeom prst="rect">
            <a:avLst/>
          </a:prstGeom>
          <a:solidFill>
            <a:srgbClr val="F5F5F5"/>
          </a:solidFill>
          <a:ln w="10160">
            <a:solidFill>
              <a:srgbClr val="DDDDDD"/>
            </a:solidFill>
            <a:prstDash val="solid"/>
          </a:ln>
        </p:spPr>
        <p:txBody>
          <a:bodyPr/>
          <a:lstStyle/>
          <a:p>
            <a:endParaRPr lang="en-IN"/>
          </a:p>
        </p:txBody>
      </p:sp>
      <p:sp>
        <p:nvSpPr>
          <p:cNvPr id="25" name="Text 23"/>
          <p:cNvSpPr/>
          <p:nvPr/>
        </p:nvSpPr>
        <p:spPr>
          <a:xfrm>
            <a:off x="1563624" y="2249424"/>
            <a:ext cx="137160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Feb 28–Mar 11</a:t>
            </a:r>
            <a:endParaRPr lang="en-US" sz="1100" dirty="0"/>
          </a:p>
        </p:txBody>
      </p:sp>
      <p:sp>
        <p:nvSpPr>
          <p:cNvPr id="26" name="Shape 24"/>
          <p:cNvSpPr/>
          <p:nvPr/>
        </p:nvSpPr>
        <p:spPr>
          <a:xfrm>
            <a:off x="3017520" y="2231136"/>
            <a:ext cx="5897880" cy="475488"/>
          </a:xfrm>
          <a:prstGeom prst="rect">
            <a:avLst/>
          </a:prstGeom>
          <a:solidFill>
            <a:srgbClr val="F5F5F5"/>
          </a:solidFill>
          <a:ln w="10160">
            <a:solidFill>
              <a:srgbClr val="DDDDDD"/>
            </a:solidFill>
            <a:prstDash val="solid"/>
          </a:ln>
        </p:spPr>
        <p:txBody>
          <a:bodyPr/>
          <a:lstStyle/>
          <a:p>
            <a:endParaRPr lang="en-IN"/>
          </a:p>
        </p:txBody>
      </p:sp>
      <p:sp>
        <p:nvSpPr>
          <p:cNvPr id="27" name="Text 25"/>
          <p:cNvSpPr/>
          <p:nvPr/>
        </p:nvSpPr>
        <p:spPr>
          <a:xfrm>
            <a:off x="3072384" y="2249424"/>
            <a:ext cx="580644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Selenium WebDriver, locators, browser automation, POM, Apache POI, data-driven testing</a:t>
            </a:r>
            <a:endParaRPr lang="en-US" sz="1100" dirty="0"/>
          </a:p>
        </p:txBody>
      </p:sp>
      <p:sp>
        <p:nvSpPr>
          <p:cNvPr id="28" name="Shape 26"/>
          <p:cNvSpPr/>
          <p:nvPr/>
        </p:nvSpPr>
        <p:spPr>
          <a:xfrm>
            <a:off x="365760" y="2752344"/>
            <a:ext cx="1097280" cy="475488"/>
          </a:xfrm>
          <a:prstGeom prst="rect">
            <a:avLst/>
          </a:prstGeom>
          <a:solidFill>
            <a:srgbClr val="FFFFFF"/>
          </a:solidFill>
          <a:ln w="10160">
            <a:solidFill>
              <a:srgbClr val="DDDDDD"/>
            </a:solidFill>
            <a:prstDash val="solid"/>
          </a:ln>
        </p:spPr>
        <p:txBody>
          <a:bodyPr/>
          <a:lstStyle/>
          <a:p>
            <a:endParaRPr lang="en-IN"/>
          </a:p>
        </p:txBody>
      </p:sp>
      <p:sp>
        <p:nvSpPr>
          <p:cNvPr id="29" name="Text 27"/>
          <p:cNvSpPr/>
          <p:nvPr/>
        </p:nvSpPr>
        <p:spPr>
          <a:xfrm>
            <a:off x="420624" y="2770632"/>
            <a:ext cx="100584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Week 7</a:t>
            </a:r>
            <a:endParaRPr lang="en-US" sz="1100" dirty="0"/>
          </a:p>
        </p:txBody>
      </p:sp>
      <p:sp>
        <p:nvSpPr>
          <p:cNvPr id="30" name="Shape 28"/>
          <p:cNvSpPr/>
          <p:nvPr/>
        </p:nvSpPr>
        <p:spPr>
          <a:xfrm>
            <a:off x="1508760" y="2752344"/>
            <a:ext cx="1463040" cy="475488"/>
          </a:xfrm>
          <a:prstGeom prst="rect">
            <a:avLst/>
          </a:prstGeom>
          <a:solidFill>
            <a:srgbClr val="FFFFFF"/>
          </a:solidFill>
          <a:ln w="10160">
            <a:solidFill>
              <a:srgbClr val="DDDDDD"/>
            </a:solidFill>
            <a:prstDash val="solid"/>
          </a:ln>
        </p:spPr>
        <p:txBody>
          <a:bodyPr/>
          <a:lstStyle/>
          <a:p>
            <a:endParaRPr lang="en-IN"/>
          </a:p>
        </p:txBody>
      </p:sp>
      <p:sp>
        <p:nvSpPr>
          <p:cNvPr id="31" name="Text 29"/>
          <p:cNvSpPr/>
          <p:nvPr/>
        </p:nvSpPr>
        <p:spPr>
          <a:xfrm>
            <a:off x="1563624" y="2770632"/>
            <a:ext cx="137160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Mar 14–18</a:t>
            </a:r>
            <a:endParaRPr lang="en-US" sz="1100" dirty="0"/>
          </a:p>
        </p:txBody>
      </p:sp>
      <p:sp>
        <p:nvSpPr>
          <p:cNvPr id="32" name="Shape 30"/>
          <p:cNvSpPr/>
          <p:nvPr/>
        </p:nvSpPr>
        <p:spPr>
          <a:xfrm>
            <a:off x="3017520" y="2752344"/>
            <a:ext cx="5897880" cy="475488"/>
          </a:xfrm>
          <a:prstGeom prst="rect">
            <a:avLst/>
          </a:prstGeom>
          <a:solidFill>
            <a:srgbClr val="FFFFFF"/>
          </a:solidFill>
          <a:ln w="10160">
            <a:solidFill>
              <a:srgbClr val="DDDDDD"/>
            </a:solidFill>
            <a:prstDash val="solid"/>
          </a:ln>
        </p:spPr>
        <p:txBody>
          <a:bodyPr/>
          <a:lstStyle/>
          <a:p>
            <a:endParaRPr lang="en-IN"/>
          </a:p>
        </p:txBody>
      </p:sp>
      <p:sp>
        <p:nvSpPr>
          <p:cNvPr id="33" name="Text 31"/>
          <p:cNvSpPr/>
          <p:nvPr/>
        </p:nvSpPr>
        <p:spPr>
          <a:xfrm>
            <a:off x="3072384" y="2770632"/>
            <a:ext cx="580644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TestNG, BDD Cucumber, feature files, step definitions – Interim Evaluation: Green</a:t>
            </a:r>
            <a:endParaRPr lang="en-US" sz="1100" dirty="0"/>
          </a:p>
        </p:txBody>
      </p:sp>
      <p:sp>
        <p:nvSpPr>
          <p:cNvPr id="34" name="Shape 32"/>
          <p:cNvSpPr/>
          <p:nvPr/>
        </p:nvSpPr>
        <p:spPr>
          <a:xfrm>
            <a:off x="365760" y="3273552"/>
            <a:ext cx="1097280" cy="475488"/>
          </a:xfrm>
          <a:prstGeom prst="rect">
            <a:avLst/>
          </a:prstGeom>
          <a:solidFill>
            <a:srgbClr val="F5F5F5"/>
          </a:solidFill>
          <a:ln w="10160">
            <a:solidFill>
              <a:srgbClr val="DDDDDD"/>
            </a:solidFill>
            <a:prstDash val="solid"/>
          </a:ln>
        </p:spPr>
        <p:txBody>
          <a:bodyPr/>
          <a:lstStyle/>
          <a:p>
            <a:endParaRPr lang="en-IN"/>
          </a:p>
        </p:txBody>
      </p:sp>
      <p:sp>
        <p:nvSpPr>
          <p:cNvPr id="35" name="Text 33"/>
          <p:cNvSpPr/>
          <p:nvPr/>
        </p:nvSpPr>
        <p:spPr>
          <a:xfrm>
            <a:off x="420624" y="3291840"/>
            <a:ext cx="100584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Week 8–9</a:t>
            </a:r>
            <a:endParaRPr lang="en-US" sz="1100" dirty="0"/>
          </a:p>
        </p:txBody>
      </p:sp>
      <p:sp>
        <p:nvSpPr>
          <p:cNvPr id="36" name="Shape 34"/>
          <p:cNvSpPr/>
          <p:nvPr/>
        </p:nvSpPr>
        <p:spPr>
          <a:xfrm>
            <a:off x="1508760" y="3273552"/>
            <a:ext cx="1463040" cy="475488"/>
          </a:xfrm>
          <a:prstGeom prst="rect">
            <a:avLst/>
          </a:prstGeom>
          <a:solidFill>
            <a:srgbClr val="F5F5F5"/>
          </a:solidFill>
          <a:ln w="10160">
            <a:solidFill>
              <a:srgbClr val="DDDDDD"/>
            </a:solidFill>
            <a:prstDash val="solid"/>
          </a:ln>
        </p:spPr>
        <p:txBody>
          <a:bodyPr/>
          <a:lstStyle/>
          <a:p>
            <a:endParaRPr lang="en-IN"/>
          </a:p>
        </p:txBody>
      </p:sp>
      <p:sp>
        <p:nvSpPr>
          <p:cNvPr id="37" name="Text 35"/>
          <p:cNvSpPr/>
          <p:nvPr/>
        </p:nvSpPr>
        <p:spPr>
          <a:xfrm>
            <a:off x="1563624" y="3291840"/>
            <a:ext cx="137160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Mar 21–Apr 1</a:t>
            </a:r>
            <a:endParaRPr lang="en-US" sz="1100" dirty="0"/>
          </a:p>
        </p:txBody>
      </p:sp>
      <p:sp>
        <p:nvSpPr>
          <p:cNvPr id="38" name="Shape 36"/>
          <p:cNvSpPr/>
          <p:nvPr/>
        </p:nvSpPr>
        <p:spPr>
          <a:xfrm>
            <a:off x="3017520" y="3273552"/>
            <a:ext cx="5897880" cy="475488"/>
          </a:xfrm>
          <a:prstGeom prst="rect">
            <a:avLst/>
          </a:prstGeom>
          <a:solidFill>
            <a:srgbClr val="F5F5F5"/>
          </a:solidFill>
          <a:ln w="10160">
            <a:solidFill>
              <a:srgbClr val="DDDDDD"/>
            </a:solidFill>
            <a:prstDash val="solid"/>
          </a:ln>
        </p:spPr>
        <p:txBody>
          <a:bodyPr/>
          <a:lstStyle/>
          <a:p>
            <a:endParaRPr lang="en-IN"/>
          </a:p>
        </p:txBody>
      </p:sp>
      <p:sp>
        <p:nvSpPr>
          <p:cNvPr id="39" name="Text 37"/>
          <p:cNvSpPr/>
          <p:nvPr/>
        </p:nvSpPr>
        <p:spPr>
          <a:xfrm>
            <a:off x="3072384" y="3291840"/>
            <a:ext cx="580644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Hackathon – Task 1, 2 &amp; 3: course search, language extraction, form validation</a:t>
            </a:r>
            <a:endParaRPr lang="en-US" sz="1100" dirty="0"/>
          </a:p>
        </p:txBody>
      </p:sp>
      <p:sp>
        <p:nvSpPr>
          <p:cNvPr id="40" name="Shape 38"/>
          <p:cNvSpPr/>
          <p:nvPr/>
        </p:nvSpPr>
        <p:spPr>
          <a:xfrm>
            <a:off x="365760" y="3794760"/>
            <a:ext cx="1097280" cy="475488"/>
          </a:xfrm>
          <a:prstGeom prst="rect">
            <a:avLst/>
          </a:prstGeom>
          <a:solidFill>
            <a:srgbClr val="FFFFFF"/>
          </a:solidFill>
          <a:ln w="10160">
            <a:solidFill>
              <a:srgbClr val="DDDDDD"/>
            </a:solidFill>
            <a:prstDash val="solid"/>
          </a:ln>
        </p:spPr>
        <p:txBody>
          <a:bodyPr/>
          <a:lstStyle/>
          <a:p>
            <a:endParaRPr lang="en-IN"/>
          </a:p>
        </p:txBody>
      </p:sp>
      <p:sp>
        <p:nvSpPr>
          <p:cNvPr id="41" name="Text 39"/>
          <p:cNvSpPr/>
          <p:nvPr/>
        </p:nvSpPr>
        <p:spPr>
          <a:xfrm>
            <a:off x="420624" y="3813048"/>
            <a:ext cx="100584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Week 10–11</a:t>
            </a:r>
            <a:endParaRPr lang="en-US" sz="1100" dirty="0"/>
          </a:p>
        </p:txBody>
      </p:sp>
      <p:sp>
        <p:nvSpPr>
          <p:cNvPr id="42" name="Shape 40"/>
          <p:cNvSpPr/>
          <p:nvPr/>
        </p:nvSpPr>
        <p:spPr>
          <a:xfrm>
            <a:off x="1508760" y="3794760"/>
            <a:ext cx="1463040" cy="475488"/>
          </a:xfrm>
          <a:prstGeom prst="rect">
            <a:avLst/>
          </a:prstGeom>
          <a:solidFill>
            <a:srgbClr val="FFFFFF"/>
          </a:solidFill>
          <a:ln w="10160">
            <a:solidFill>
              <a:srgbClr val="DDDDDD"/>
            </a:solidFill>
            <a:prstDash val="solid"/>
          </a:ln>
        </p:spPr>
        <p:txBody>
          <a:bodyPr/>
          <a:lstStyle/>
          <a:p>
            <a:endParaRPr lang="en-IN"/>
          </a:p>
        </p:txBody>
      </p:sp>
      <p:sp>
        <p:nvSpPr>
          <p:cNvPr id="43" name="Text 41"/>
          <p:cNvSpPr/>
          <p:nvPr/>
        </p:nvSpPr>
        <p:spPr>
          <a:xfrm>
            <a:off x="1563624" y="3813048"/>
            <a:ext cx="137160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Apr 4–15</a:t>
            </a:r>
            <a:endParaRPr lang="en-US" sz="1100" dirty="0"/>
          </a:p>
        </p:txBody>
      </p:sp>
      <p:sp>
        <p:nvSpPr>
          <p:cNvPr id="44" name="Shape 42"/>
          <p:cNvSpPr/>
          <p:nvPr/>
        </p:nvSpPr>
        <p:spPr>
          <a:xfrm>
            <a:off x="3017520" y="3794760"/>
            <a:ext cx="5897880" cy="475488"/>
          </a:xfrm>
          <a:prstGeom prst="rect">
            <a:avLst/>
          </a:prstGeom>
          <a:solidFill>
            <a:srgbClr val="FFFFFF"/>
          </a:solidFill>
          <a:ln w="10160">
            <a:solidFill>
              <a:srgbClr val="DDDDDD"/>
            </a:solidFill>
            <a:prstDash val="solid"/>
          </a:ln>
        </p:spPr>
        <p:txBody>
          <a:bodyPr/>
          <a:lstStyle/>
          <a:p>
            <a:endParaRPr lang="en-IN"/>
          </a:p>
        </p:txBody>
      </p:sp>
      <p:sp>
        <p:nvSpPr>
          <p:cNvPr id="45" name="Text 43"/>
          <p:cNvSpPr/>
          <p:nvPr/>
        </p:nvSpPr>
        <p:spPr>
          <a:xfrm>
            <a:off x="3072384" y="3813048"/>
            <a:ext cx="580644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DevOps (Git, Maven, Jenkins), Selenium Grid, API automation (Postman / REST Assured)</a:t>
            </a:r>
            <a:endParaRPr lang="en-US" sz="1100" dirty="0"/>
          </a:p>
        </p:txBody>
      </p:sp>
      <p:sp>
        <p:nvSpPr>
          <p:cNvPr id="46" name="Shape 44"/>
          <p:cNvSpPr/>
          <p:nvPr/>
        </p:nvSpPr>
        <p:spPr>
          <a:xfrm>
            <a:off x="365760" y="4315968"/>
            <a:ext cx="1097280" cy="475488"/>
          </a:xfrm>
          <a:prstGeom prst="rect">
            <a:avLst/>
          </a:prstGeom>
          <a:solidFill>
            <a:srgbClr val="F5F5F5"/>
          </a:solidFill>
          <a:ln w="10160">
            <a:solidFill>
              <a:srgbClr val="DDDDDD"/>
            </a:solidFill>
            <a:prstDash val="solid"/>
          </a:ln>
        </p:spPr>
        <p:txBody>
          <a:bodyPr/>
          <a:lstStyle/>
          <a:p>
            <a:endParaRPr lang="en-IN"/>
          </a:p>
        </p:txBody>
      </p:sp>
      <p:sp>
        <p:nvSpPr>
          <p:cNvPr id="47" name="Text 45"/>
          <p:cNvSpPr/>
          <p:nvPr/>
        </p:nvSpPr>
        <p:spPr>
          <a:xfrm>
            <a:off x="420624" y="4334256"/>
            <a:ext cx="100584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Week 12</a:t>
            </a:r>
            <a:endParaRPr lang="en-US" sz="1100" dirty="0"/>
          </a:p>
        </p:txBody>
      </p:sp>
      <p:sp>
        <p:nvSpPr>
          <p:cNvPr id="48" name="Shape 46"/>
          <p:cNvSpPr/>
          <p:nvPr/>
        </p:nvSpPr>
        <p:spPr>
          <a:xfrm>
            <a:off x="1508760" y="4315968"/>
            <a:ext cx="1463040" cy="475488"/>
          </a:xfrm>
          <a:prstGeom prst="rect">
            <a:avLst/>
          </a:prstGeom>
          <a:solidFill>
            <a:srgbClr val="F5F5F5"/>
          </a:solidFill>
          <a:ln w="10160">
            <a:solidFill>
              <a:srgbClr val="DDDDDD"/>
            </a:solidFill>
            <a:prstDash val="solid"/>
          </a:ln>
        </p:spPr>
        <p:txBody>
          <a:bodyPr/>
          <a:lstStyle/>
          <a:p>
            <a:endParaRPr lang="en-IN"/>
          </a:p>
        </p:txBody>
      </p:sp>
      <p:sp>
        <p:nvSpPr>
          <p:cNvPr id="49" name="Text 47"/>
          <p:cNvSpPr/>
          <p:nvPr/>
        </p:nvSpPr>
        <p:spPr>
          <a:xfrm>
            <a:off x="1563624" y="4334256"/>
            <a:ext cx="137160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Apr 18–22</a:t>
            </a:r>
            <a:endParaRPr lang="en-US" sz="1100" dirty="0"/>
          </a:p>
        </p:txBody>
      </p:sp>
      <p:sp>
        <p:nvSpPr>
          <p:cNvPr id="50" name="Shape 48"/>
          <p:cNvSpPr/>
          <p:nvPr/>
        </p:nvSpPr>
        <p:spPr>
          <a:xfrm>
            <a:off x="3017520" y="4315968"/>
            <a:ext cx="5897880" cy="475488"/>
          </a:xfrm>
          <a:prstGeom prst="rect">
            <a:avLst/>
          </a:prstGeom>
          <a:solidFill>
            <a:srgbClr val="F5F5F5"/>
          </a:solidFill>
          <a:ln w="10160">
            <a:solidFill>
              <a:srgbClr val="DDDDDD"/>
            </a:solidFill>
            <a:prstDash val="solid"/>
          </a:ln>
        </p:spPr>
        <p:txBody>
          <a:bodyPr/>
          <a:lstStyle/>
          <a:p>
            <a:endParaRPr lang="en-IN"/>
          </a:p>
        </p:txBody>
      </p:sp>
      <p:sp>
        <p:nvSpPr>
          <p:cNvPr id="51" name="Text 49"/>
          <p:cNvSpPr/>
          <p:nvPr/>
        </p:nvSpPr>
        <p:spPr>
          <a:xfrm>
            <a:off x="3072384" y="4334256"/>
            <a:ext cx="5806440" cy="438912"/>
          </a:xfrm>
          <a:prstGeom prst="rect">
            <a:avLst/>
          </a:prstGeom>
          <a:noFill/>
          <a:ln/>
        </p:spPr>
        <p:txBody>
          <a:bodyPr wrap="square" lIns="0" tIns="0" rIns="0" bIns="0" rtlCol="0" anchor="ctr"/>
          <a:lstStyle/>
          <a:p>
            <a:pPr marL="0" indent="0">
              <a:buNone/>
            </a:pPr>
            <a:r>
              <a:rPr lang="en-US" sz="1100" dirty="0">
                <a:solidFill>
                  <a:srgbClr val="000000"/>
                </a:solidFill>
                <a:latin typeface="Calibri" pitchFamily="34" charset="0"/>
                <a:ea typeface="Calibri" pitchFamily="34" charset="-122"/>
                <a:cs typeface="Calibri" pitchFamily="34" charset="-120"/>
              </a:rPr>
              <a:t>Final project delivery, code review, documentation – Final Evaluation: Excellent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lIns="0" tIns="0" rIns="0" bIns="0"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Conclusion</a:t>
            </a:r>
            <a:endParaRPr lang="en-US" sz="2400" dirty="0"/>
          </a:p>
        </p:txBody>
      </p:sp>
      <p:sp>
        <p:nvSpPr>
          <p:cNvPr id="3" name="Shape 1"/>
          <p:cNvSpPr/>
          <p:nvPr/>
        </p:nvSpPr>
        <p:spPr>
          <a:xfrm>
            <a:off x="365760" y="713232"/>
            <a:ext cx="8412480" cy="0"/>
          </a:xfrm>
          <a:prstGeom prst="line">
            <a:avLst/>
          </a:prstGeom>
          <a:noFill/>
          <a:ln w="19050">
            <a:solidFill>
              <a:srgbClr val="000000"/>
            </a:solidFill>
            <a:prstDash val="solid"/>
          </a:ln>
        </p:spPr>
        <p:txBody>
          <a:bodyPr/>
          <a:lstStyle/>
          <a:p>
            <a:endParaRPr lang="en-IN"/>
          </a:p>
        </p:txBody>
      </p:sp>
      <p:sp>
        <p:nvSpPr>
          <p:cNvPr id="4" name="Text 2"/>
          <p:cNvSpPr/>
          <p:nvPr/>
        </p:nvSpPr>
        <p:spPr>
          <a:xfrm>
            <a:off x="365760" y="822960"/>
            <a:ext cx="8412480" cy="685800"/>
          </a:xfrm>
          <a:prstGeom prst="rect">
            <a:avLst/>
          </a:prstGeom>
          <a:noFill/>
          <a:ln/>
        </p:spPr>
        <p:txBody>
          <a:bodyPr wrap="square" lIns="0" tIns="0" rIns="0" bIns="0" rtlCol="0" anchor="t"/>
          <a:lstStyle/>
          <a:p>
            <a:pPr marL="0" indent="0">
              <a:lnSpc>
                <a:spcPct val="135000"/>
              </a:lnSpc>
              <a:buNone/>
            </a:pPr>
            <a:r>
              <a:rPr lang="en-US" sz="1200" dirty="0">
                <a:solidFill>
                  <a:srgbClr val="000000"/>
                </a:solidFill>
                <a:latin typeface="Calibri" pitchFamily="34" charset="0"/>
                <a:ea typeface="Calibri" pitchFamily="34" charset="-122"/>
                <a:cs typeface="Calibri" pitchFamily="34" charset="-120"/>
              </a:rPr>
              <a:t>The 3 months GenC QEA internship at Cognizant Technology Solutions was a highly rewarding experience that successfully bridged academic knowledge with real-world industry practice. The project on automating the Coursera web application served as the practical culmination of all concepts learned.</a:t>
            </a:r>
            <a:endParaRPr lang="en-US" sz="1200" dirty="0"/>
          </a:p>
        </p:txBody>
      </p:sp>
      <p:sp>
        <p:nvSpPr>
          <p:cNvPr id="5" name="Shape 3"/>
          <p:cNvSpPr/>
          <p:nvPr/>
        </p:nvSpPr>
        <p:spPr>
          <a:xfrm>
            <a:off x="365760" y="1572768"/>
            <a:ext cx="8412480" cy="0"/>
          </a:xfrm>
          <a:prstGeom prst="line">
            <a:avLst/>
          </a:prstGeom>
          <a:noFill/>
          <a:ln w="12700">
            <a:solidFill>
              <a:srgbClr val="DDDDDD"/>
            </a:solidFill>
            <a:prstDash val="solid"/>
          </a:ln>
        </p:spPr>
        <p:txBody>
          <a:bodyPr/>
          <a:lstStyle/>
          <a:p>
            <a:endParaRPr lang="en-IN"/>
          </a:p>
        </p:txBody>
      </p:sp>
      <p:sp>
        <p:nvSpPr>
          <p:cNvPr id="6" name="Text 4"/>
          <p:cNvSpPr/>
          <p:nvPr/>
        </p:nvSpPr>
        <p:spPr>
          <a:xfrm>
            <a:off x="365760" y="1645920"/>
            <a:ext cx="8412480" cy="347472"/>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Key Takeaways</a:t>
            </a:r>
            <a:endParaRPr lang="en-US" sz="1300" dirty="0"/>
          </a:p>
        </p:txBody>
      </p:sp>
      <p:sp>
        <p:nvSpPr>
          <p:cNvPr id="7" name="Text 5"/>
          <p:cNvSpPr/>
          <p:nvPr/>
        </p:nvSpPr>
        <p:spPr>
          <a:xfrm>
            <a:off x="365760" y="2084832"/>
            <a:ext cx="365760" cy="594360"/>
          </a:xfrm>
          <a:prstGeom prst="rect">
            <a:avLst/>
          </a:prstGeom>
          <a:noFill/>
          <a:ln/>
        </p:spPr>
        <p:txBody>
          <a:bodyPr wrap="square" lIns="0" tIns="0" rIns="0" bIns="0" rtlCol="0" anchor="t"/>
          <a:lstStyle/>
          <a:p>
            <a:pPr marL="0" indent="0">
              <a:buNone/>
            </a:pPr>
            <a:r>
              <a:rPr lang="en-US" sz="1200" b="1" dirty="0">
                <a:solidFill>
                  <a:srgbClr val="000000"/>
                </a:solidFill>
                <a:latin typeface="Calibri" pitchFamily="34" charset="0"/>
                <a:ea typeface="Calibri" pitchFamily="34" charset="-122"/>
                <a:cs typeface="Calibri" pitchFamily="34" charset="-120"/>
              </a:rPr>
              <a:t>1.  </a:t>
            </a:r>
            <a:endParaRPr lang="en-US" sz="1200" dirty="0"/>
          </a:p>
        </p:txBody>
      </p:sp>
      <p:sp>
        <p:nvSpPr>
          <p:cNvPr id="8" name="Text 6"/>
          <p:cNvSpPr/>
          <p:nvPr/>
        </p:nvSpPr>
        <p:spPr>
          <a:xfrm>
            <a:off x="731520" y="2084832"/>
            <a:ext cx="1645920" cy="292608"/>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Technical Skills – </a:t>
            </a:r>
            <a:endParaRPr lang="en-US" sz="1200" dirty="0"/>
          </a:p>
        </p:txBody>
      </p:sp>
      <p:sp>
        <p:nvSpPr>
          <p:cNvPr id="9" name="Text 7"/>
          <p:cNvSpPr/>
          <p:nvPr/>
        </p:nvSpPr>
        <p:spPr>
          <a:xfrm>
            <a:off x="2377440" y="2084832"/>
            <a:ext cx="6400800" cy="566928"/>
          </a:xfrm>
          <a:prstGeom prst="rect">
            <a:avLst/>
          </a:prstGeom>
          <a:noFill/>
          <a:ln/>
        </p:spPr>
        <p:txBody>
          <a:bodyPr wrap="square" lIns="0" tIns="0" rIns="0" bIns="0" rtlCol="0" anchor="t"/>
          <a:lstStyle/>
          <a:p>
            <a:pPr marL="0" indent="0">
              <a:lnSpc>
                <a:spcPct val="130000"/>
              </a:lnSpc>
              <a:buNone/>
            </a:pPr>
            <a:r>
              <a:rPr lang="en-US" sz="1200" dirty="0">
                <a:solidFill>
                  <a:srgbClr val="000000"/>
                </a:solidFill>
                <a:latin typeface="Calibri" pitchFamily="34" charset="0"/>
                <a:ea typeface="Calibri" pitchFamily="34" charset="-122"/>
                <a:cs typeface="Calibri" pitchFamily="34" charset="-120"/>
              </a:rPr>
              <a:t>Mastered Java, Selenium WebDriver, BDD Cucumber, TestNG, ExtentReports, Page Object Model, Apache POI, Maven, and Jenkins CI/CD.</a:t>
            </a:r>
            <a:endParaRPr lang="en-US" sz="1200" dirty="0"/>
          </a:p>
        </p:txBody>
      </p:sp>
      <p:sp>
        <p:nvSpPr>
          <p:cNvPr id="10" name="Text 8"/>
          <p:cNvSpPr/>
          <p:nvPr/>
        </p:nvSpPr>
        <p:spPr>
          <a:xfrm>
            <a:off x="365760" y="2770632"/>
            <a:ext cx="365760" cy="594360"/>
          </a:xfrm>
          <a:prstGeom prst="rect">
            <a:avLst/>
          </a:prstGeom>
          <a:noFill/>
          <a:ln/>
        </p:spPr>
        <p:txBody>
          <a:bodyPr wrap="square" lIns="0" tIns="0" rIns="0" bIns="0" rtlCol="0" anchor="t"/>
          <a:lstStyle/>
          <a:p>
            <a:pPr marL="0" indent="0">
              <a:buNone/>
            </a:pPr>
            <a:r>
              <a:rPr lang="en-US" sz="1200" b="1" dirty="0">
                <a:solidFill>
                  <a:srgbClr val="000000"/>
                </a:solidFill>
                <a:latin typeface="Calibri" pitchFamily="34" charset="0"/>
                <a:ea typeface="Calibri" pitchFamily="34" charset="-122"/>
                <a:cs typeface="Calibri" pitchFamily="34" charset="-120"/>
              </a:rPr>
              <a:t>2.  </a:t>
            </a:r>
            <a:endParaRPr lang="en-US" sz="1200" dirty="0"/>
          </a:p>
        </p:txBody>
      </p:sp>
      <p:sp>
        <p:nvSpPr>
          <p:cNvPr id="11" name="Text 9"/>
          <p:cNvSpPr/>
          <p:nvPr/>
        </p:nvSpPr>
        <p:spPr>
          <a:xfrm>
            <a:off x="731520" y="2770632"/>
            <a:ext cx="1645920" cy="292608"/>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Automation Expertise – </a:t>
            </a:r>
            <a:endParaRPr lang="en-US" sz="1200" dirty="0"/>
          </a:p>
        </p:txBody>
      </p:sp>
      <p:sp>
        <p:nvSpPr>
          <p:cNvPr id="12" name="Text 10"/>
          <p:cNvSpPr/>
          <p:nvPr/>
        </p:nvSpPr>
        <p:spPr>
          <a:xfrm>
            <a:off x="2377440" y="2770632"/>
            <a:ext cx="6400800" cy="566928"/>
          </a:xfrm>
          <a:prstGeom prst="rect">
            <a:avLst/>
          </a:prstGeom>
          <a:noFill/>
          <a:ln/>
        </p:spPr>
        <p:txBody>
          <a:bodyPr wrap="square" lIns="0" tIns="0" rIns="0" bIns="0" rtlCol="0" anchor="t"/>
          <a:lstStyle/>
          <a:p>
            <a:pPr marL="0" indent="0">
              <a:lnSpc>
                <a:spcPct val="130000"/>
              </a:lnSpc>
              <a:buNone/>
            </a:pPr>
            <a:r>
              <a:rPr lang="en-US" sz="1200" dirty="0">
                <a:solidFill>
                  <a:srgbClr val="000000"/>
                </a:solidFill>
                <a:latin typeface="Calibri" pitchFamily="34" charset="0"/>
                <a:ea typeface="Calibri" pitchFamily="34" charset="-122"/>
                <a:cs typeface="Calibri" pitchFamily="34" charset="-120"/>
              </a:rPr>
              <a:t>Built a complete automation framework handling dynamic elements, lazy loading, nested dropdowns, form validation, and multi-window scenarios.</a:t>
            </a:r>
            <a:endParaRPr lang="en-US" sz="1200" dirty="0"/>
          </a:p>
        </p:txBody>
      </p:sp>
      <p:sp>
        <p:nvSpPr>
          <p:cNvPr id="13" name="Text 11"/>
          <p:cNvSpPr/>
          <p:nvPr/>
        </p:nvSpPr>
        <p:spPr>
          <a:xfrm>
            <a:off x="365760" y="3456432"/>
            <a:ext cx="365760" cy="594360"/>
          </a:xfrm>
          <a:prstGeom prst="rect">
            <a:avLst/>
          </a:prstGeom>
          <a:noFill/>
          <a:ln/>
        </p:spPr>
        <p:txBody>
          <a:bodyPr wrap="square" lIns="0" tIns="0" rIns="0" bIns="0" rtlCol="0" anchor="t"/>
          <a:lstStyle/>
          <a:p>
            <a:pPr marL="0" indent="0">
              <a:buNone/>
            </a:pPr>
            <a:r>
              <a:rPr lang="en-US" sz="1200" b="1" dirty="0">
                <a:solidFill>
                  <a:srgbClr val="000000"/>
                </a:solidFill>
                <a:latin typeface="Calibri" pitchFamily="34" charset="0"/>
                <a:ea typeface="Calibri" pitchFamily="34" charset="-122"/>
                <a:cs typeface="Calibri" pitchFamily="34" charset="-120"/>
              </a:rPr>
              <a:t>3.  </a:t>
            </a:r>
            <a:endParaRPr lang="en-US" sz="1200" dirty="0"/>
          </a:p>
        </p:txBody>
      </p:sp>
      <p:sp>
        <p:nvSpPr>
          <p:cNvPr id="14" name="Text 12"/>
          <p:cNvSpPr/>
          <p:nvPr/>
        </p:nvSpPr>
        <p:spPr>
          <a:xfrm>
            <a:off x="731520" y="3456432"/>
            <a:ext cx="1645920" cy="292608"/>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DevOps &amp; CI/CD – </a:t>
            </a:r>
            <a:endParaRPr lang="en-US" sz="1200" dirty="0"/>
          </a:p>
        </p:txBody>
      </p:sp>
      <p:sp>
        <p:nvSpPr>
          <p:cNvPr id="15" name="Text 13"/>
          <p:cNvSpPr/>
          <p:nvPr/>
        </p:nvSpPr>
        <p:spPr>
          <a:xfrm>
            <a:off x="2377440" y="3456432"/>
            <a:ext cx="6400800" cy="566928"/>
          </a:xfrm>
          <a:prstGeom prst="rect">
            <a:avLst/>
          </a:prstGeom>
          <a:noFill/>
          <a:ln/>
        </p:spPr>
        <p:txBody>
          <a:bodyPr wrap="square" lIns="0" tIns="0" rIns="0" bIns="0" rtlCol="0" anchor="t"/>
          <a:lstStyle/>
          <a:p>
            <a:pPr marL="0" indent="0">
              <a:lnSpc>
                <a:spcPct val="130000"/>
              </a:lnSpc>
              <a:buNone/>
            </a:pPr>
            <a:r>
              <a:rPr lang="en-US" sz="1200" dirty="0">
                <a:solidFill>
                  <a:srgbClr val="000000"/>
                </a:solidFill>
                <a:latin typeface="Calibri" pitchFamily="34" charset="0"/>
                <a:ea typeface="Calibri" pitchFamily="34" charset="-122"/>
                <a:cs typeface="Calibri" pitchFamily="34" charset="-120"/>
              </a:rPr>
              <a:t>Configured GitHub repositories, Jenkins pipelines, Selenium Grid for parallel execution, and REST Assured for API automation.</a:t>
            </a:r>
            <a:endParaRPr lang="en-US" sz="1200" dirty="0"/>
          </a:p>
        </p:txBody>
      </p:sp>
      <p:sp>
        <p:nvSpPr>
          <p:cNvPr id="16" name="Text 14"/>
          <p:cNvSpPr/>
          <p:nvPr/>
        </p:nvSpPr>
        <p:spPr>
          <a:xfrm>
            <a:off x="365760" y="4142232"/>
            <a:ext cx="365760" cy="594360"/>
          </a:xfrm>
          <a:prstGeom prst="rect">
            <a:avLst/>
          </a:prstGeom>
          <a:noFill/>
          <a:ln/>
        </p:spPr>
        <p:txBody>
          <a:bodyPr wrap="square" lIns="0" tIns="0" rIns="0" bIns="0" rtlCol="0" anchor="t"/>
          <a:lstStyle/>
          <a:p>
            <a:pPr marL="0" indent="0">
              <a:buNone/>
            </a:pPr>
            <a:r>
              <a:rPr lang="en-US" sz="1200" b="1" dirty="0">
                <a:solidFill>
                  <a:srgbClr val="000000"/>
                </a:solidFill>
                <a:latin typeface="Calibri" pitchFamily="34" charset="0"/>
                <a:ea typeface="Calibri" pitchFamily="34" charset="-122"/>
                <a:cs typeface="Calibri" pitchFamily="34" charset="-120"/>
              </a:rPr>
              <a:t>4.  </a:t>
            </a:r>
            <a:endParaRPr lang="en-US" sz="1200" dirty="0"/>
          </a:p>
        </p:txBody>
      </p:sp>
      <p:sp>
        <p:nvSpPr>
          <p:cNvPr id="17" name="Text 15"/>
          <p:cNvSpPr/>
          <p:nvPr/>
        </p:nvSpPr>
        <p:spPr>
          <a:xfrm>
            <a:off x="731520" y="4142232"/>
            <a:ext cx="1645920" cy="292608"/>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Professional Skills – </a:t>
            </a:r>
            <a:endParaRPr lang="en-US" sz="1200" dirty="0"/>
          </a:p>
        </p:txBody>
      </p:sp>
      <p:sp>
        <p:nvSpPr>
          <p:cNvPr id="18" name="Text 16"/>
          <p:cNvSpPr/>
          <p:nvPr/>
        </p:nvSpPr>
        <p:spPr>
          <a:xfrm>
            <a:off x="2377440" y="4142232"/>
            <a:ext cx="6400800" cy="566928"/>
          </a:xfrm>
          <a:prstGeom prst="rect">
            <a:avLst/>
          </a:prstGeom>
          <a:noFill/>
          <a:ln/>
        </p:spPr>
        <p:txBody>
          <a:bodyPr wrap="square" lIns="0" tIns="0" rIns="0" bIns="0" rtlCol="0" anchor="t"/>
          <a:lstStyle/>
          <a:p>
            <a:pPr marL="0" indent="0">
              <a:lnSpc>
                <a:spcPct val="130000"/>
              </a:lnSpc>
              <a:buNone/>
            </a:pPr>
            <a:r>
              <a:rPr lang="en-US" sz="1200" dirty="0">
                <a:solidFill>
                  <a:srgbClr val="000000"/>
                </a:solidFill>
                <a:latin typeface="Calibri" pitchFamily="34" charset="0"/>
                <a:ea typeface="Calibri" pitchFamily="34" charset="-122"/>
                <a:cs typeface="Calibri" pitchFamily="34" charset="-120"/>
              </a:rPr>
              <a:t>Developed structured problem-solving, documentation discipline, Agile/JIRA sprint management, and collaborative teamwork in a corporate environment.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lIns="0" tIns="0" rIns="0" bIns="0"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References</a:t>
            </a:r>
            <a:endParaRPr lang="en-US" sz="2400" dirty="0"/>
          </a:p>
        </p:txBody>
      </p:sp>
      <p:sp>
        <p:nvSpPr>
          <p:cNvPr id="3" name="Shape 1"/>
          <p:cNvSpPr/>
          <p:nvPr/>
        </p:nvSpPr>
        <p:spPr>
          <a:xfrm>
            <a:off x="365760" y="713232"/>
            <a:ext cx="8412480" cy="0"/>
          </a:xfrm>
          <a:prstGeom prst="line">
            <a:avLst/>
          </a:prstGeom>
          <a:noFill/>
          <a:ln w="19050">
            <a:solidFill>
              <a:srgbClr val="000000"/>
            </a:solidFill>
            <a:prstDash val="solid"/>
          </a:ln>
        </p:spPr>
        <p:txBody>
          <a:bodyPr/>
          <a:lstStyle/>
          <a:p>
            <a:endParaRPr lang="en-IN"/>
          </a:p>
        </p:txBody>
      </p:sp>
      <p:sp>
        <p:nvSpPr>
          <p:cNvPr id="4" name="Text 2"/>
          <p:cNvSpPr/>
          <p:nvPr/>
        </p:nvSpPr>
        <p:spPr>
          <a:xfrm>
            <a:off x="365760" y="841248"/>
            <a:ext cx="64008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[1]</a:t>
            </a:r>
            <a:endParaRPr lang="en-US" sz="1200" dirty="0"/>
          </a:p>
        </p:txBody>
      </p:sp>
      <p:sp>
        <p:nvSpPr>
          <p:cNvPr id="5" name="Text 3"/>
          <p:cNvSpPr/>
          <p:nvPr/>
        </p:nvSpPr>
        <p:spPr>
          <a:xfrm>
            <a:off x="1051560" y="841248"/>
            <a:ext cx="411480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Selenium WebDriver Documentation</a:t>
            </a:r>
            <a:endParaRPr lang="en-US" sz="1200" dirty="0"/>
          </a:p>
        </p:txBody>
      </p:sp>
      <p:sp>
        <p:nvSpPr>
          <p:cNvPr id="6" name="Text 4"/>
          <p:cNvSpPr/>
          <p:nvPr/>
        </p:nvSpPr>
        <p:spPr>
          <a:xfrm>
            <a:off x="5212080" y="841248"/>
            <a:ext cx="3657600" cy="411480"/>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https://www.selenium.dev/documentation/</a:t>
            </a:r>
            <a:endParaRPr lang="en-US" sz="1100" dirty="0"/>
          </a:p>
        </p:txBody>
      </p:sp>
      <p:sp>
        <p:nvSpPr>
          <p:cNvPr id="7" name="Shape 5"/>
          <p:cNvSpPr/>
          <p:nvPr/>
        </p:nvSpPr>
        <p:spPr>
          <a:xfrm>
            <a:off x="365760" y="1261872"/>
            <a:ext cx="8412480" cy="0"/>
          </a:xfrm>
          <a:prstGeom prst="line">
            <a:avLst/>
          </a:prstGeom>
          <a:noFill/>
          <a:ln w="7620">
            <a:solidFill>
              <a:srgbClr val="DDDDDD"/>
            </a:solidFill>
            <a:prstDash val="solid"/>
          </a:ln>
        </p:spPr>
        <p:txBody>
          <a:bodyPr/>
          <a:lstStyle/>
          <a:p>
            <a:endParaRPr lang="en-IN"/>
          </a:p>
        </p:txBody>
      </p:sp>
      <p:sp>
        <p:nvSpPr>
          <p:cNvPr id="8" name="Text 6"/>
          <p:cNvSpPr/>
          <p:nvPr/>
        </p:nvSpPr>
        <p:spPr>
          <a:xfrm>
            <a:off x="365760" y="1353312"/>
            <a:ext cx="64008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1051560" y="1353312"/>
            <a:ext cx="411480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BDD Cucumber Official Guide</a:t>
            </a:r>
            <a:endParaRPr lang="en-US" sz="1200" dirty="0"/>
          </a:p>
        </p:txBody>
      </p:sp>
      <p:sp>
        <p:nvSpPr>
          <p:cNvPr id="10" name="Text 8"/>
          <p:cNvSpPr/>
          <p:nvPr/>
        </p:nvSpPr>
        <p:spPr>
          <a:xfrm>
            <a:off x="5212080" y="1353312"/>
            <a:ext cx="3657600" cy="411480"/>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https://cucumber.io/docs/cucumber/</a:t>
            </a:r>
            <a:endParaRPr lang="en-US" sz="1100" dirty="0"/>
          </a:p>
        </p:txBody>
      </p:sp>
      <p:sp>
        <p:nvSpPr>
          <p:cNvPr id="11" name="Shape 9"/>
          <p:cNvSpPr/>
          <p:nvPr/>
        </p:nvSpPr>
        <p:spPr>
          <a:xfrm>
            <a:off x="365760" y="1773936"/>
            <a:ext cx="8412480" cy="0"/>
          </a:xfrm>
          <a:prstGeom prst="line">
            <a:avLst/>
          </a:prstGeom>
          <a:noFill/>
          <a:ln w="7620">
            <a:solidFill>
              <a:srgbClr val="DDDDDD"/>
            </a:solidFill>
            <a:prstDash val="solid"/>
          </a:ln>
        </p:spPr>
        <p:txBody>
          <a:bodyPr/>
          <a:lstStyle/>
          <a:p>
            <a:endParaRPr lang="en-IN"/>
          </a:p>
        </p:txBody>
      </p:sp>
      <p:sp>
        <p:nvSpPr>
          <p:cNvPr id="12" name="Text 10"/>
          <p:cNvSpPr/>
          <p:nvPr/>
        </p:nvSpPr>
        <p:spPr>
          <a:xfrm>
            <a:off x="365760" y="1865376"/>
            <a:ext cx="64008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1051560" y="1865376"/>
            <a:ext cx="411480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TestNG Documentation</a:t>
            </a:r>
            <a:endParaRPr lang="en-US" sz="1200" dirty="0"/>
          </a:p>
        </p:txBody>
      </p:sp>
      <p:sp>
        <p:nvSpPr>
          <p:cNvPr id="14" name="Text 12"/>
          <p:cNvSpPr/>
          <p:nvPr/>
        </p:nvSpPr>
        <p:spPr>
          <a:xfrm>
            <a:off x="5212080" y="1865376"/>
            <a:ext cx="3657600" cy="411480"/>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https://testng.org/doc/documentation-main.html</a:t>
            </a:r>
            <a:endParaRPr lang="en-US" sz="1100" dirty="0"/>
          </a:p>
        </p:txBody>
      </p:sp>
      <p:sp>
        <p:nvSpPr>
          <p:cNvPr id="15" name="Shape 13"/>
          <p:cNvSpPr/>
          <p:nvPr/>
        </p:nvSpPr>
        <p:spPr>
          <a:xfrm>
            <a:off x="365760" y="2286000"/>
            <a:ext cx="8412480" cy="0"/>
          </a:xfrm>
          <a:prstGeom prst="line">
            <a:avLst/>
          </a:prstGeom>
          <a:noFill/>
          <a:ln w="7620">
            <a:solidFill>
              <a:srgbClr val="DDDDDD"/>
            </a:solidFill>
            <a:prstDash val="solid"/>
          </a:ln>
        </p:spPr>
        <p:txBody>
          <a:bodyPr/>
          <a:lstStyle/>
          <a:p>
            <a:endParaRPr lang="en-IN"/>
          </a:p>
        </p:txBody>
      </p:sp>
      <p:sp>
        <p:nvSpPr>
          <p:cNvPr id="16" name="Text 14"/>
          <p:cNvSpPr/>
          <p:nvPr/>
        </p:nvSpPr>
        <p:spPr>
          <a:xfrm>
            <a:off x="365760" y="2377440"/>
            <a:ext cx="64008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1051560" y="2377440"/>
            <a:ext cx="411480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Apache POI – Java Excel API</a:t>
            </a:r>
            <a:endParaRPr lang="en-US" sz="1200" dirty="0"/>
          </a:p>
        </p:txBody>
      </p:sp>
      <p:sp>
        <p:nvSpPr>
          <p:cNvPr id="18" name="Text 16"/>
          <p:cNvSpPr/>
          <p:nvPr/>
        </p:nvSpPr>
        <p:spPr>
          <a:xfrm>
            <a:off x="5212080" y="2377440"/>
            <a:ext cx="3657600" cy="411480"/>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https://poi.apache.org/</a:t>
            </a:r>
            <a:endParaRPr lang="en-US" sz="1100" dirty="0"/>
          </a:p>
        </p:txBody>
      </p:sp>
      <p:sp>
        <p:nvSpPr>
          <p:cNvPr id="19" name="Shape 17"/>
          <p:cNvSpPr/>
          <p:nvPr/>
        </p:nvSpPr>
        <p:spPr>
          <a:xfrm>
            <a:off x="365760" y="2798064"/>
            <a:ext cx="8412480" cy="0"/>
          </a:xfrm>
          <a:prstGeom prst="line">
            <a:avLst/>
          </a:prstGeom>
          <a:noFill/>
          <a:ln w="7620">
            <a:solidFill>
              <a:srgbClr val="DDDDDD"/>
            </a:solidFill>
            <a:prstDash val="solid"/>
          </a:ln>
        </p:spPr>
        <p:txBody>
          <a:bodyPr/>
          <a:lstStyle/>
          <a:p>
            <a:endParaRPr lang="en-IN"/>
          </a:p>
        </p:txBody>
      </p:sp>
      <p:sp>
        <p:nvSpPr>
          <p:cNvPr id="20" name="Text 18"/>
          <p:cNvSpPr/>
          <p:nvPr/>
        </p:nvSpPr>
        <p:spPr>
          <a:xfrm>
            <a:off x="365760" y="2889504"/>
            <a:ext cx="64008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[5]</a:t>
            </a:r>
            <a:endParaRPr lang="en-US" sz="1200" dirty="0"/>
          </a:p>
        </p:txBody>
      </p:sp>
      <p:sp>
        <p:nvSpPr>
          <p:cNvPr id="21" name="Text 19"/>
          <p:cNvSpPr/>
          <p:nvPr/>
        </p:nvSpPr>
        <p:spPr>
          <a:xfrm>
            <a:off x="1051560" y="2889504"/>
            <a:ext cx="411480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Maven Project Management Tool</a:t>
            </a:r>
            <a:endParaRPr lang="en-US" sz="1200" dirty="0"/>
          </a:p>
        </p:txBody>
      </p:sp>
      <p:sp>
        <p:nvSpPr>
          <p:cNvPr id="22" name="Text 20"/>
          <p:cNvSpPr/>
          <p:nvPr/>
        </p:nvSpPr>
        <p:spPr>
          <a:xfrm>
            <a:off x="5212080" y="2889504"/>
            <a:ext cx="3657600" cy="411480"/>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https://maven.apache.org/</a:t>
            </a:r>
            <a:endParaRPr lang="en-US" sz="1100" dirty="0"/>
          </a:p>
        </p:txBody>
      </p:sp>
      <p:sp>
        <p:nvSpPr>
          <p:cNvPr id="23" name="Shape 21"/>
          <p:cNvSpPr/>
          <p:nvPr/>
        </p:nvSpPr>
        <p:spPr>
          <a:xfrm>
            <a:off x="365760" y="3310128"/>
            <a:ext cx="8412480" cy="0"/>
          </a:xfrm>
          <a:prstGeom prst="line">
            <a:avLst/>
          </a:prstGeom>
          <a:noFill/>
          <a:ln w="7620">
            <a:solidFill>
              <a:srgbClr val="DDDDDD"/>
            </a:solidFill>
            <a:prstDash val="solid"/>
          </a:ln>
        </p:spPr>
        <p:txBody>
          <a:bodyPr/>
          <a:lstStyle/>
          <a:p>
            <a:endParaRPr lang="en-IN"/>
          </a:p>
        </p:txBody>
      </p:sp>
      <p:sp>
        <p:nvSpPr>
          <p:cNvPr id="24" name="Text 22"/>
          <p:cNvSpPr/>
          <p:nvPr/>
        </p:nvSpPr>
        <p:spPr>
          <a:xfrm>
            <a:off x="365760" y="3401568"/>
            <a:ext cx="64008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[6]</a:t>
            </a:r>
            <a:endParaRPr lang="en-US" sz="1200" dirty="0"/>
          </a:p>
        </p:txBody>
      </p:sp>
      <p:sp>
        <p:nvSpPr>
          <p:cNvPr id="25" name="Text 23"/>
          <p:cNvSpPr/>
          <p:nvPr/>
        </p:nvSpPr>
        <p:spPr>
          <a:xfrm>
            <a:off x="1051560" y="3401568"/>
            <a:ext cx="411480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Coursera.org – Target Application</a:t>
            </a:r>
            <a:endParaRPr lang="en-US" sz="1200" dirty="0"/>
          </a:p>
        </p:txBody>
      </p:sp>
      <p:sp>
        <p:nvSpPr>
          <p:cNvPr id="26" name="Text 24"/>
          <p:cNvSpPr/>
          <p:nvPr/>
        </p:nvSpPr>
        <p:spPr>
          <a:xfrm>
            <a:off x="5212080" y="3401568"/>
            <a:ext cx="3657600" cy="411480"/>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https://www.coursera.org</a:t>
            </a:r>
            <a:endParaRPr lang="en-US" sz="1100" dirty="0"/>
          </a:p>
        </p:txBody>
      </p:sp>
      <p:sp>
        <p:nvSpPr>
          <p:cNvPr id="27" name="Shape 25"/>
          <p:cNvSpPr/>
          <p:nvPr/>
        </p:nvSpPr>
        <p:spPr>
          <a:xfrm>
            <a:off x="365760" y="3822192"/>
            <a:ext cx="8412480" cy="0"/>
          </a:xfrm>
          <a:prstGeom prst="line">
            <a:avLst/>
          </a:prstGeom>
          <a:noFill/>
          <a:ln w="7620">
            <a:solidFill>
              <a:srgbClr val="DDDDDD"/>
            </a:solidFill>
            <a:prstDash val="solid"/>
          </a:ln>
        </p:spPr>
        <p:txBody>
          <a:bodyPr/>
          <a:lstStyle/>
          <a:p>
            <a:endParaRPr lang="en-IN"/>
          </a:p>
        </p:txBody>
      </p:sp>
      <p:sp>
        <p:nvSpPr>
          <p:cNvPr id="28" name="Text 26"/>
          <p:cNvSpPr/>
          <p:nvPr/>
        </p:nvSpPr>
        <p:spPr>
          <a:xfrm>
            <a:off x="365760" y="3913632"/>
            <a:ext cx="64008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[7]</a:t>
            </a:r>
            <a:endParaRPr lang="en-US" sz="1200" dirty="0"/>
          </a:p>
        </p:txBody>
      </p:sp>
      <p:sp>
        <p:nvSpPr>
          <p:cNvPr id="29" name="Text 27"/>
          <p:cNvSpPr/>
          <p:nvPr/>
        </p:nvSpPr>
        <p:spPr>
          <a:xfrm>
            <a:off x="1051560" y="3913632"/>
            <a:ext cx="411480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Cognizant Technology Solutions</a:t>
            </a:r>
            <a:endParaRPr lang="en-US" sz="1200" dirty="0"/>
          </a:p>
        </p:txBody>
      </p:sp>
      <p:sp>
        <p:nvSpPr>
          <p:cNvPr id="30" name="Text 28"/>
          <p:cNvSpPr/>
          <p:nvPr/>
        </p:nvSpPr>
        <p:spPr>
          <a:xfrm>
            <a:off x="5212080" y="3913632"/>
            <a:ext cx="3657600" cy="411480"/>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https://www.cognizant.com</a:t>
            </a:r>
            <a:endParaRPr lang="en-US" sz="1100" dirty="0"/>
          </a:p>
        </p:txBody>
      </p:sp>
      <p:sp>
        <p:nvSpPr>
          <p:cNvPr id="31" name="Shape 29"/>
          <p:cNvSpPr/>
          <p:nvPr/>
        </p:nvSpPr>
        <p:spPr>
          <a:xfrm>
            <a:off x="365760" y="4334256"/>
            <a:ext cx="8412480" cy="0"/>
          </a:xfrm>
          <a:prstGeom prst="line">
            <a:avLst/>
          </a:prstGeom>
          <a:noFill/>
          <a:ln w="7620">
            <a:solidFill>
              <a:srgbClr val="DDDDDD"/>
            </a:solidFill>
            <a:prstDash val="solid"/>
          </a:ln>
        </p:spPr>
        <p:txBody>
          <a:bodyPr/>
          <a:lstStyle/>
          <a:p>
            <a:endParaRPr lang="en-IN"/>
          </a:p>
        </p:txBody>
      </p:sp>
      <p:sp>
        <p:nvSpPr>
          <p:cNvPr id="32" name="Text 30"/>
          <p:cNvSpPr/>
          <p:nvPr/>
        </p:nvSpPr>
        <p:spPr>
          <a:xfrm>
            <a:off x="365760" y="4425696"/>
            <a:ext cx="64008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[8]</a:t>
            </a:r>
            <a:endParaRPr lang="en-US" sz="1200" dirty="0"/>
          </a:p>
        </p:txBody>
      </p:sp>
      <p:sp>
        <p:nvSpPr>
          <p:cNvPr id="33" name="Text 31"/>
          <p:cNvSpPr/>
          <p:nvPr/>
        </p:nvSpPr>
        <p:spPr>
          <a:xfrm>
            <a:off x="1051560" y="4425696"/>
            <a:ext cx="4114800" cy="41148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ExtentReports – Reporting Library</a:t>
            </a:r>
            <a:endParaRPr lang="en-US" sz="1200" dirty="0"/>
          </a:p>
        </p:txBody>
      </p:sp>
      <p:sp>
        <p:nvSpPr>
          <p:cNvPr id="34" name="Text 32"/>
          <p:cNvSpPr/>
          <p:nvPr/>
        </p:nvSpPr>
        <p:spPr>
          <a:xfrm>
            <a:off x="5212080" y="4425696"/>
            <a:ext cx="3657600" cy="411480"/>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https://www.extentreports.com/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73152"/>
            <a:ext cx="9144000" cy="0"/>
          </a:xfrm>
          <a:prstGeom prst="line">
            <a:avLst/>
          </a:prstGeom>
          <a:noFill/>
          <a:ln w="25400">
            <a:solidFill>
              <a:srgbClr val="000000"/>
            </a:solidFill>
            <a:prstDash val="solid"/>
          </a:ln>
        </p:spPr>
        <p:txBody>
          <a:bodyPr/>
          <a:lstStyle/>
          <a:p>
            <a:endParaRPr lang="en-IN"/>
          </a:p>
        </p:txBody>
      </p:sp>
      <p:sp>
        <p:nvSpPr>
          <p:cNvPr id="3" name="Shape 1"/>
          <p:cNvSpPr/>
          <p:nvPr/>
        </p:nvSpPr>
        <p:spPr>
          <a:xfrm>
            <a:off x="0" y="5047488"/>
            <a:ext cx="9144000" cy="0"/>
          </a:xfrm>
          <a:prstGeom prst="line">
            <a:avLst/>
          </a:prstGeom>
          <a:noFill/>
          <a:ln w="25400">
            <a:solidFill>
              <a:srgbClr val="000000"/>
            </a:solidFill>
            <a:prstDash val="solid"/>
          </a:ln>
        </p:spPr>
        <p:txBody>
          <a:bodyPr/>
          <a:lstStyle/>
          <a:p>
            <a:endParaRPr lang="en-IN"/>
          </a:p>
        </p:txBody>
      </p:sp>
      <p:sp>
        <p:nvSpPr>
          <p:cNvPr id="4" name="Text 2"/>
          <p:cNvSpPr/>
          <p:nvPr/>
        </p:nvSpPr>
        <p:spPr>
          <a:xfrm>
            <a:off x="914400" y="1463040"/>
            <a:ext cx="7315200" cy="1097280"/>
          </a:xfrm>
          <a:prstGeom prst="rect">
            <a:avLst/>
          </a:prstGeom>
          <a:noFill/>
          <a:ln/>
        </p:spPr>
        <p:txBody>
          <a:bodyPr wrap="square" lIns="0" tIns="0" rIns="0" bIns="0" rtlCol="0" anchor="ctr"/>
          <a:lstStyle/>
          <a:p>
            <a:pPr marL="0" indent="0" algn="ctr">
              <a:buNone/>
            </a:pPr>
            <a:r>
              <a:rPr lang="en-US" sz="5400" b="1" dirty="0">
                <a:solidFill>
                  <a:srgbClr val="000000"/>
                </a:solidFill>
                <a:latin typeface="Calibri" pitchFamily="34" charset="0"/>
                <a:ea typeface="Calibri" pitchFamily="34" charset="-122"/>
                <a:cs typeface="Calibri" pitchFamily="34" charset="-120"/>
              </a:rPr>
              <a:t>Thank You</a:t>
            </a:r>
            <a:endParaRPr lang="en-US" sz="5400" dirty="0"/>
          </a:p>
        </p:txBody>
      </p:sp>
      <p:sp>
        <p:nvSpPr>
          <p:cNvPr id="5" name="Shape 3"/>
          <p:cNvSpPr/>
          <p:nvPr/>
        </p:nvSpPr>
        <p:spPr>
          <a:xfrm>
            <a:off x="2743200" y="2697480"/>
            <a:ext cx="3657600" cy="0"/>
          </a:xfrm>
          <a:prstGeom prst="line">
            <a:avLst/>
          </a:prstGeom>
          <a:noFill/>
          <a:ln w="19050">
            <a:solidFill>
              <a:srgbClr val="000000"/>
            </a:solidFill>
            <a:prstDash val="solid"/>
          </a:ln>
        </p:spPr>
        <p:txBody>
          <a:bodyPr/>
          <a:lstStyle/>
          <a:p>
            <a:endParaRPr lang="en-IN"/>
          </a:p>
        </p:txBody>
      </p:sp>
      <p:sp>
        <p:nvSpPr>
          <p:cNvPr id="6" name="Text 4"/>
          <p:cNvSpPr/>
          <p:nvPr/>
        </p:nvSpPr>
        <p:spPr>
          <a:xfrm>
            <a:off x="914400" y="2880360"/>
            <a:ext cx="7315200" cy="384048"/>
          </a:xfrm>
          <a:prstGeom prst="rect">
            <a:avLst/>
          </a:prstGeom>
          <a:noFill/>
          <a:ln/>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Arman Shaikh  |  Roll No: 39  |  Section A  |  2024–25</a:t>
            </a:r>
            <a:endParaRPr lang="en-US" sz="1400" dirty="0"/>
          </a:p>
        </p:txBody>
      </p:sp>
      <p:sp>
        <p:nvSpPr>
          <p:cNvPr id="7" name="Text 5"/>
          <p:cNvSpPr/>
          <p:nvPr/>
        </p:nvSpPr>
        <p:spPr>
          <a:xfrm>
            <a:off x="914400" y="3310128"/>
            <a:ext cx="7315200" cy="347472"/>
          </a:xfrm>
          <a:prstGeom prst="rect">
            <a:avLst/>
          </a:prstGeom>
          <a:noFill/>
          <a:ln/>
        </p:spPr>
        <p:txBody>
          <a:bodyPr wrap="square" lIns="0" tIns="0" rIns="0" bIns="0" rtlCol="0" anchor="ctr"/>
          <a:lstStyle/>
          <a:p>
            <a:pPr marL="0" indent="0" algn="ctr">
              <a:buNone/>
            </a:pPr>
            <a:r>
              <a:rPr lang="en-US" sz="1300" dirty="0">
                <a:solidFill>
                  <a:srgbClr val="555555"/>
                </a:solidFill>
                <a:latin typeface="Calibri" pitchFamily="34" charset="0"/>
                <a:ea typeface="Calibri" pitchFamily="34" charset="-122"/>
                <a:cs typeface="Calibri" pitchFamily="34" charset="-120"/>
              </a:rPr>
              <a:t>College Guide: Dr. Piyush Ingole  |  Industry Guide: Ashly M. Benny</a:t>
            </a:r>
            <a:endParaRPr lang="en-US" sz="1300" dirty="0"/>
          </a:p>
        </p:txBody>
      </p:sp>
      <p:sp>
        <p:nvSpPr>
          <p:cNvPr id="8" name="Text 6"/>
          <p:cNvSpPr/>
          <p:nvPr/>
        </p:nvSpPr>
        <p:spPr>
          <a:xfrm>
            <a:off x="914400" y="3730752"/>
            <a:ext cx="7315200" cy="347472"/>
          </a:xfrm>
          <a:prstGeom prst="rect">
            <a:avLst/>
          </a:prstGeom>
          <a:noFill/>
          <a:ln/>
        </p:spPr>
        <p:txBody>
          <a:bodyPr wrap="square" lIns="0" tIns="0" rIns="0" bIns="0" rtlCol="0" anchor="ctr"/>
          <a:lstStyle/>
          <a:p>
            <a:pPr marL="0" indent="0" algn="ctr">
              <a:buNone/>
            </a:pPr>
            <a:r>
              <a:rPr lang="en-US" sz="1300" i="1" dirty="0">
                <a:solidFill>
                  <a:srgbClr val="555555"/>
                </a:solidFill>
                <a:latin typeface="Calibri" pitchFamily="34" charset="0"/>
                <a:ea typeface="Calibri" pitchFamily="34" charset="-122"/>
                <a:cs typeface="Calibri" pitchFamily="34" charset="-120"/>
              </a:rPr>
              <a:t>Internship at Cognizant Technology Solutions – GenC QEA Program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1805</Words>
  <Application>Microsoft Office PowerPoint</Application>
  <PresentationFormat>On-screen Show (16:9)</PresentationFormat>
  <Paragraphs>198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Seminar – Cognizant</dc:title>
  <dc:subject>PptxGenJS Presentation</dc:subject>
  <dc:creator>PptxGenJS</dc:creator>
  <cp:lastModifiedBy>Shaikh Rashid, Arman Shaikh (Contractor)</cp:lastModifiedBy>
  <cp:revision>3</cp:revision>
  <dcterms:created xsi:type="dcterms:W3CDTF">2026-05-15T18:15:40Z</dcterms:created>
  <dcterms:modified xsi:type="dcterms:W3CDTF">2026-05-15T18:56:06Z</dcterms:modified>
</cp:coreProperties>
</file>